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rial Bold" panose="020B0704020202020204" pitchFamily="34" charset="0"/>
      <p:bold r:id="rId8"/>
    </p:embeddedFont>
    <p:embeddedFont>
      <p:font typeface="Arial Italics" panose="020B0600000101010101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ko-KR" altLang="ko-KR" dirty="0" err="1"/>
              <a:t>Good</a:t>
            </a:r>
            <a:r>
              <a:rPr lang="ko-KR" altLang="ko-KR" dirty="0"/>
              <a:t> </a:t>
            </a:r>
            <a:r>
              <a:rPr lang="ko-KR" altLang="ko-KR" dirty="0" err="1"/>
              <a:t>afternoon</a:t>
            </a:r>
            <a:r>
              <a:rPr lang="ko-KR" altLang="ko-KR" dirty="0"/>
              <a:t>. </a:t>
            </a:r>
            <a:r>
              <a:rPr lang="ko-KR" altLang="ko-KR" dirty="0" err="1"/>
              <a:t>I’m</a:t>
            </a:r>
            <a:r>
              <a:rPr lang="ko-KR" altLang="ko-KR" dirty="0"/>
              <a:t> </a:t>
            </a:r>
            <a:r>
              <a:rPr lang="ko-KR" altLang="ko-KR" dirty="0" err="1"/>
              <a:t>Junhyeong</a:t>
            </a:r>
            <a:r>
              <a:rPr lang="ko-KR" altLang="ko-KR" dirty="0"/>
              <a:t> Lee. </a:t>
            </a:r>
            <a:r>
              <a:rPr lang="ko-KR" altLang="ko-KR" dirty="0" err="1"/>
              <a:t>Today</a:t>
            </a:r>
            <a:r>
              <a:rPr lang="ko-KR" altLang="ko-KR" dirty="0"/>
              <a:t> </a:t>
            </a:r>
            <a:r>
              <a:rPr lang="ko-KR" altLang="ko-KR" dirty="0" err="1"/>
              <a:t>I’ll</a:t>
            </a:r>
            <a:r>
              <a:rPr lang="ko-KR" altLang="ko-KR" dirty="0"/>
              <a:t> </a:t>
            </a:r>
            <a:r>
              <a:rPr lang="ko-KR" altLang="ko-KR" dirty="0" err="1"/>
              <a:t>explain</a:t>
            </a:r>
            <a:r>
              <a:rPr lang="ko-KR" altLang="ko-KR" dirty="0"/>
              <a:t> </a:t>
            </a:r>
            <a:r>
              <a:rPr lang="ko-KR" altLang="ko-KR" dirty="0" err="1"/>
              <a:t>one</a:t>
            </a:r>
            <a:r>
              <a:rPr lang="ko-KR" altLang="ko-KR" dirty="0"/>
              <a:t> </a:t>
            </a:r>
            <a:r>
              <a:rPr lang="ko-KR" altLang="ko-KR" dirty="0" err="1"/>
              <a:t>concept</a:t>
            </a:r>
            <a:r>
              <a:rPr lang="ko-KR" altLang="ko-KR" dirty="0"/>
              <a:t>: </a:t>
            </a:r>
            <a:r>
              <a:rPr lang="ko-KR" altLang="ko-KR" dirty="0" err="1"/>
              <a:t>depth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CNNs</a:t>
            </a:r>
            <a:r>
              <a:rPr lang="ko-KR" altLang="ko-KR" dirty="0"/>
              <a:t> — </a:t>
            </a:r>
            <a:r>
              <a:rPr lang="ko-KR" altLang="ko-KR" dirty="0" err="1"/>
              <a:t>why</a:t>
            </a:r>
            <a:r>
              <a:rPr lang="ko-KR" altLang="ko-KR" dirty="0"/>
              <a:t> </a:t>
            </a:r>
            <a:r>
              <a:rPr lang="ko-KR" altLang="ko-KR" dirty="0" err="1"/>
              <a:t>deeper</a:t>
            </a:r>
            <a:r>
              <a:rPr lang="ko-KR" altLang="ko-KR" dirty="0"/>
              <a:t> </a:t>
            </a:r>
            <a:r>
              <a:rPr lang="ko-KR" altLang="ko-KR" dirty="0" err="1"/>
              <a:t>networks</a:t>
            </a:r>
            <a:r>
              <a:rPr lang="ko-KR" altLang="ko-KR" dirty="0"/>
              <a:t> </a:t>
            </a:r>
            <a:r>
              <a:rPr lang="ko-KR" altLang="ko-KR" dirty="0" err="1"/>
              <a:t>work</a:t>
            </a:r>
            <a:r>
              <a:rPr lang="ko-KR" altLang="ko-KR" dirty="0"/>
              <a:t> </a:t>
            </a:r>
            <a:r>
              <a:rPr lang="ko-KR" altLang="ko-KR" dirty="0" err="1"/>
              <a:t>better</a:t>
            </a:r>
            <a:r>
              <a:rPr lang="ko-KR" altLang="ko-KR" dirty="0"/>
              <a:t>, and </a:t>
            </a:r>
            <a:r>
              <a:rPr lang="ko-KR" altLang="ko-KR" dirty="0" err="1"/>
              <a:t>how</a:t>
            </a:r>
            <a:r>
              <a:rPr lang="ko-KR" altLang="ko-KR" dirty="0"/>
              <a:t> </a:t>
            </a:r>
            <a:r>
              <a:rPr lang="ko-KR" altLang="ko-KR" dirty="0" err="1"/>
              <a:t>AlexNet</a:t>
            </a:r>
            <a:r>
              <a:rPr lang="ko-KR" altLang="ko-KR" dirty="0"/>
              <a:t>, VGG, and </a:t>
            </a:r>
            <a:r>
              <a:rPr lang="ko-KR" altLang="ko-KR" dirty="0" err="1"/>
              <a:t>ResNet</a:t>
            </a:r>
            <a:r>
              <a:rPr lang="ko-KR" altLang="ko-KR" dirty="0"/>
              <a:t> </a:t>
            </a:r>
            <a:r>
              <a:rPr lang="ko-KR" altLang="ko-KR" dirty="0" err="1"/>
              <a:t>made</a:t>
            </a:r>
            <a:r>
              <a:rPr lang="ko-KR" altLang="ko-KR" dirty="0"/>
              <a:t> </a:t>
            </a:r>
            <a:r>
              <a:rPr lang="ko-KR" altLang="ko-KR" dirty="0" err="1"/>
              <a:t>it</a:t>
            </a:r>
            <a:r>
              <a:rPr lang="ko-KR" altLang="ko-KR" dirty="0"/>
              <a:t> </a:t>
            </a:r>
            <a:r>
              <a:rPr lang="ko-KR" altLang="ko-KR" dirty="0" err="1"/>
              <a:t>possible</a:t>
            </a:r>
            <a:r>
              <a:rPr lang="ko-KR" altLang="ko-KR" dirty="0"/>
              <a:t>.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rtl="0"/>
            <a:r>
              <a:rPr lang="ko-KR" altLang="ko-KR" dirty="0"/>
              <a:t>First, </a:t>
            </a:r>
            <a:r>
              <a:rPr lang="ko-KR" altLang="ko-KR" dirty="0" err="1"/>
              <a:t>convolution</a:t>
            </a:r>
            <a:r>
              <a:rPr lang="ko-KR" altLang="ko-KR" dirty="0"/>
              <a:t>.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small</a:t>
            </a:r>
            <a:r>
              <a:rPr lang="ko-KR" altLang="ko-KR" dirty="0"/>
              <a:t> </a:t>
            </a:r>
            <a:r>
              <a:rPr lang="ko-KR" altLang="ko-KR" dirty="0" err="1"/>
              <a:t>filter</a:t>
            </a:r>
            <a:r>
              <a:rPr lang="ko-KR" altLang="ko-KR" dirty="0"/>
              <a:t> </a:t>
            </a:r>
            <a:r>
              <a:rPr lang="ko-KR" altLang="ko-KR" dirty="0" err="1"/>
              <a:t>slides</a:t>
            </a:r>
            <a:r>
              <a:rPr lang="ko-KR" altLang="ko-KR" dirty="0"/>
              <a:t> </a:t>
            </a:r>
            <a:r>
              <a:rPr lang="ko-KR" altLang="ko-KR" dirty="0" err="1"/>
              <a:t>over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image</a:t>
            </a:r>
            <a:r>
              <a:rPr lang="ko-KR" altLang="ko-KR" dirty="0"/>
              <a:t> and </a:t>
            </a:r>
            <a:r>
              <a:rPr lang="ko-KR" altLang="ko-KR" dirty="0" err="1"/>
              <a:t>takes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dot</a:t>
            </a:r>
            <a:r>
              <a:rPr lang="ko-KR" altLang="ko-KR" dirty="0"/>
              <a:t> </a:t>
            </a:r>
            <a:r>
              <a:rPr lang="ko-KR" altLang="ko-KR" dirty="0" err="1"/>
              <a:t>product</a:t>
            </a:r>
            <a:r>
              <a:rPr lang="ko-KR" altLang="ko-KR" dirty="0"/>
              <a:t> </a:t>
            </a:r>
            <a:r>
              <a:rPr lang="ko-KR" altLang="ko-KR" dirty="0" err="1"/>
              <a:t>at</a:t>
            </a:r>
            <a:r>
              <a:rPr lang="ko-KR" altLang="ko-KR" dirty="0"/>
              <a:t> </a:t>
            </a:r>
            <a:r>
              <a:rPr lang="ko-KR" altLang="ko-KR" dirty="0" err="1"/>
              <a:t>each</a:t>
            </a:r>
            <a:r>
              <a:rPr lang="ko-KR" altLang="ko-KR" dirty="0"/>
              <a:t> </a:t>
            </a:r>
            <a:r>
              <a:rPr lang="ko-KR" altLang="ko-KR" dirty="0" err="1"/>
              <a:t>position</a:t>
            </a:r>
            <a:r>
              <a:rPr lang="ko-KR" altLang="ko-KR" dirty="0"/>
              <a:t>. The </a:t>
            </a:r>
            <a:r>
              <a:rPr lang="ko-KR" altLang="ko-KR" dirty="0" err="1"/>
              <a:t>output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large</a:t>
            </a:r>
            <a:r>
              <a:rPr lang="ko-KR" altLang="ko-KR" dirty="0"/>
              <a:t> </a:t>
            </a:r>
            <a:r>
              <a:rPr lang="ko-KR" altLang="ko-KR" dirty="0" err="1"/>
              <a:t>where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patch</a:t>
            </a:r>
            <a:r>
              <a:rPr lang="ko-KR" altLang="ko-KR" dirty="0"/>
              <a:t> </a:t>
            </a:r>
            <a:r>
              <a:rPr lang="ko-KR" altLang="ko-KR" dirty="0" err="1"/>
              <a:t>looks</a:t>
            </a:r>
            <a:r>
              <a:rPr lang="ko-KR" altLang="ko-KR" dirty="0"/>
              <a:t> </a:t>
            </a:r>
            <a:r>
              <a:rPr lang="ko-KR" altLang="ko-KR" dirty="0" err="1"/>
              <a:t>like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filter</a:t>
            </a:r>
            <a:r>
              <a:rPr lang="ko-KR" altLang="ko-KR" dirty="0"/>
              <a:t>.</a:t>
            </a:r>
          </a:p>
          <a:p>
            <a:pPr rtl="0"/>
            <a:r>
              <a:rPr lang="ko-KR" altLang="ko-KR" dirty="0" err="1"/>
              <a:t>Why</a:t>
            </a:r>
            <a:r>
              <a:rPr lang="ko-KR" altLang="ko-KR" dirty="0"/>
              <a:t> </a:t>
            </a:r>
            <a:r>
              <a:rPr lang="ko-KR" altLang="ko-KR" dirty="0" err="1"/>
              <a:t>not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fully-connected</a:t>
            </a:r>
            <a:r>
              <a:rPr lang="ko-KR" altLang="ko-KR" dirty="0"/>
              <a:t> </a:t>
            </a:r>
            <a:r>
              <a:rPr lang="ko-KR" altLang="ko-KR" dirty="0" err="1"/>
              <a:t>layer</a:t>
            </a:r>
            <a:r>
              <a:rPr lang="ko-KR" altLang="ko-KR" dirty="0"/>
              <a:t>? </a:t>
            </a:r>
            <a:r>
              <a:rPr lang="ko-KR" altLang="ko-KR" dirty="0" err="1"/>
              <a:t>It</a:t>
            </a:r>
            <a:r>
              <a:rPr lang="ko-KR" altLang="ko-KR" dirty="0"/>
              <a:t> </a:t>
            </a:r>
            <a:r>
              <a:rPr lang="ko-KR" altLang="ko-KR" dirty="0" err="1"/>
              <a:t>needs</a:t>
            </a:r>
            <a:r>
              <a:rPr lang="ko-KR" altLang="ko-KR" dirty="0"/>
              <a:t> </a:t>
            </a:r>
            <a:r>
              <a:rPr lang="ko-KR" altLang="ko-KR" dirty="0" err="1"/>
              <a:t>millions</a:t>
            </a:r>
            <a:r>
              <a:rPr lang="ko-KR" altLang="ko-KR" dirty="0"/>
              <a:t> of </a:t>
            </a:r>
            <a:r>
              <a:rPr lang="ko-KR" altLang="ko-KR" dirty="0" err="1"/>
              <a:t>weights</a:t>
            </a:r>
            <a:r>
              <a:rPr lang="ko-KR" altLang="ko-KR" dirty="0"/>
              <a:t>, and </a:t>
            </a:r>
            <a:r>
              <a:rPr lang="ko-KR" altLang="ko-KR" dirty="0" err="1"/>
              <a:t>it</a:t>
            </a:r>
            <a:r>
              <a:rPr lang="ko-KR" altLang="ko-KR" dirty="0"/>
              <a:t> </a:t>
            </a:r>
            <a:r>
              <a:rPr lang="ko-KR" altLang="ko-KR" dirty="0" err="1"/>
              <a:t>ignores</a:t>
            </a:r>
            <a:r>
              <a:rPr lang="ko-KR" altLang="ko-KR" dirty="0"/>
              <a:t> </a:t>
            </a:r>
            <a:r>
              <a:rPr lang="ko-KR" altLang="ko-KR" dirty="0" err="1"/>
              <a:t>position</a:t>
            </a:r>
            <a:r>
              <a:rPr lang="ko-KR" altLang="ko-KR" dirty="0"/>
              <a:t> — </a:t>
            </a:r>
            <a:r>
              <a:rPr lang="ko-KR" altLang="ko-KR" dirty="0" err="1"/>
              <a:t>it</a:t>
            </a:r>
            <a:r>
              <a:rPr lang="ko-KR" altLang="ko-KR" dirty="0"/>
              <a:t> </a:t>
            </a:r>
            <a:r>
              <a:rPr lang="ko-KR" altLang="ko-KR" dirty="0" err="1"/>
              <a:t>only</a:t>
            </a:r>
            <a:r>
              <a:rPr lang="ko-KR" altLang="ko-KR" dirty="0"/>
              <a:t> </a:t>
            </a:r>
            <a:r>
              <a:rPr lang="ko-KR" altLang="ko-KR" dirty="0" err="1"/>
              <a:t>learns</a:t>
            </a:r>
            <a:r>
              <a:rPr lang="ko-KR" altLang="ko-KR" dirty="0"/>
              <a:t> </a:t>
            </a:r>
            <a:r>
              <a:rPr lang="ko-KR" altLang="ko-KR" dirty="0" err="1"/>
              <a:t>blurry</a:t>
            </a:r>
            <a:r>
              <a:rPr lang="ko-KR" altLang="ko-KR" dirty="0"/>
              <a:t> </a:t>
            </a:r>
            <a:r>
              <a:rPr lang="ko-KR" altLang="ko-KR" dirty="0" err="1"/>
              <a:t>whole-image</a:t>
            </a:r>
            <a:r>
              <a:rPr lang="ko-KR" altLang="ko-KR" dirty="0"/>
              <a:t> </a:t>
            </a:r>
            <a:r>
              <a:rPr lang="ko-KR" altLang="ko-KR" dirty="0" err="1"/>
              <a:t>templates</a:t>
            </a:r>
            <a:r>
              <a:rPr lang="ko-KR" altLang="ko-KR" dirty="0"/>
              <a:t>. </a:t>
            </a:r>
            <a:r>
              <a:rPr lang="ko-KR" altLang="ko-KR" dirty="0" err="1"/>
              <a:t>Convolution</a:t>
            </a:r>
            <a:r>
              <a:rPr lang="ko-KR" altLang="ko-KR" dirty="0"/>
              <a:t> </a:t>
            </a:r>
            <a:r>
              <a:rPr lang="ko-KR" altLang="ko-KR" dirty="0" err="1"/>
              <a:t>learns</a:t>
            </a:r>
            <a:r>
              <a:rPr lang="ko-KR" altLang="ko-KR" dirty="0"/>
              <a:t> </a:t>
            </a:r>
            <a:r>
              <a:rPr lang="ko-KR" altLang="ko-KR" dirty="0" err="1"/>
              <a:t>small</a:t>
            </a:r>
            <a:r>
              <a:rPr lang="ko-KR" altLang="ko-KR" dirty="0"/>
              <a:t> </a:t>
            </a:r>
            <a:r>
              <a:rPr lang="ko-KR" altLang="ko-KR" dirty="0" err="1"/>
              <a:t>local</a:t>
            </a:r>
            <a:r>
              <a:rPr lang="ko-KR" altLang="ko-KR" dirty="0"/>
              <a:t> </a:t>
            </a:r>
            <a:r>
              <a:rPr lang="ko-KR" altLang="ko-KR" dirty="0" err="1"/>
              <a:t>edges</a:t>
            </a:r>
            <a:r>
              <a:rPr lang="ko-KR" altLang="ko-KR" dirty="0"/>
              <a:t> and </a:t>
            </a:r>
            <a:r>
              <a:rPr lang="ko-KR" altLang="ko-KR" dirty="0" err="1"/>
              <a:t>colors</a:t>
            </a:r>
            <a:r>
              <a:rPr lang="ko-KR" altLang="ko-KR" dirty="0"/>
              <a:t> </a:t>
            </a:r>
            <a:r>
              <a:rPr lang="ko-KR" altLang="ko-KR" dirty="0" err="1"/>
              <a:t>instead</a:t>
            </a:r>
            <a:r>
              <a:rPr lang="ko-KR" altLang="ko-KR" dirty="0"/>
              <a:t>.</a:t>
            </a:r>
          </a:p>
          <a:p>
            <a:pPr rtl="0"/>
            <a:r>
              <a:rPr lang="ko-KR" altLang="ko-KR" dirty="0" err="1"/>
              <a:t>So</a:t>
            </a:r>
            <a:r>
              <a:rPr lang="ko-KR" altLang="ko-KR" dirty="0"/>
              <a:t> </a:t>
            </a:r>
            <a:r>
              <a:rPr lang="ko-KR" altLang="ko-KR" dirty="0" err="1"/>
              <a:t>why</a:t>
            </a:r>
            <a:r>
              <a:rPr lang="ko-KR" altLang="ko-KR" dirty="0"/>
              <a:t> </a:t>
            </a:r>
            <a:r>
              <a:rPr lang="ko-KR" altLang="ko-KR" dirty="0" err="1"/>
              <a:t>does</a:t>
            </a:r>
            <a:r>
              <a:rPr lang="ko-KR" altLang="ko-KR" dirty="0"/>
              <a:t> </a:t>
            </a:r>
            <a:r>
              <a:rPr lang="ko-KR" altLang="ko-KR" dirty="0" err="1"/>
              <a:t>convolution</a:t>
            </a:r>
            <a:r>
              <a:rPr lang="ko-KR" altLang="ko-KR" dirty="0"/>
              <a:t> </a:t>
            </a:r>
            <a:r>
              <a:rPr lang="ko-KR" altLang="ko-KR" dirty="0" err="1"/>
              <a:t>fit</a:t>
            </a:r>
            <a:r>
              <a:rPr lang="ko-KR" altLang="ko-KR" dirty="0"/>
              <a:t> </a:t>
            </a:r>
            <a:r>
              <a:rPr lang="ko-KR" altLang="ko-KR" dirty="0" err="1"/>
              <a:t>images</a:t>
            </a:r>
            <a:r>
              <a:rPr lang="ko-KR" altLang="ko-KR" dirty="0"/>
              <a:t>? </a:t>
            </a:r>
            <a:r>
              <a:rPr lang="ko-KR" altLang="ko-KR" dirty="0" err="1"/>
              <a:t>Four</a:t>
            </a:r>
            <a:r>
              <a:rPr lang="ko-KR" altLang="ko-KR" dirty="0"/>
              <a:t> </a:t>
            </a:r>
            <a:r>
              <a:rPr lang="ko-KR" altLang="ko-KR" dirty="0" err="1"/>
              <a:t>reasons</a:t>
            </a:r>
            <a:r>
              <a:rPr lang="ko-KR" altLang="ko-KR" dirty="0"/>
              <a:t>. </a:t>
            </a:r>
            <a:r>
              <a:rPr lang="ko-KR" altLang="ko-KR" dirty="0" err="1"/>
              <a:t>Each</a:t>
            </a:r>
            <a:r>
              <a:rPr lang="ko-KR" altLang="ko-KR" dirty="0"/>
              <a:t> </a:t>
            </a:r>
            <a:r>
              <a:rPr lang="ko-KR" altLang="ko-KR" dirty="0" err="1"/>
              <a:t>unit</a:t>
            </a:r>
            <a:r>
              <a:rPr lang="ko-KR" altLang="ko-KR" dirty="0"/>
              <a:t> </a:t>
            </a:r>
            <a:r>
              <a:rPr lang="ko-KR" altLang="ko-KR" dirty="0" err="1"/>
              <a:t>sees</a:t>
            </a:r>
            <a:r>
              <a:rPr lang="ko-KR" altLang="ko-KR" dirty="0"/>
              <a:t> </a:t>
            </a:r>
            <a:r>
              <a:rPr lang="ko-KR" altLang="ko-KR" dirty="0" err="1"/>
              <a:t>only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small</a:t>
            </a:r>
            <a:r>
              <a:rPr lang="ko-KR" altLang="ko-KR" dirty="0"/>
              <a:t> </a:t>
            </a:r>
            <a:r>
              <a:rPr lang="ko-KR" altLang="ko-KR" dirty="0" err="1"/>
              <a:t>patch</a:t>
            </a:r>
            <a:r>
              <a:rPr lang="ko-KR" altLang="ko-KR" dirty="0"/>
              <a:t>. The </a:t>
            </a:r>
            <a:r>
              <a:rPr lang="ko-KR" altLang="ko-KR" dirty="0" err="1"/>
              <a:t>same</a:t>
            </a:r>
            <a:r>
              <a:rPr lang="ko-KR" altLang="ko-KR" dirty="0"/>
              <a:t> </a:t>
            </a:r>
            <a:r>
              <a:rPr lang="ko-KR" altLang="ko-KR" dirty="0" err="1"/>
              <a:t>filter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shared</a:t>
            </a:r>
            <a:r>
              <a:rPr lang="ko-KR" altLang="ko-KR" dirty="0"/>
              <a:t> </a:t>
            </a:r>
            <a:r>
              <a:rPr lang="ko-KR" altLang="ko-KR" dirty="0" err="1"/>
              <a:t>everywhere</a:t>
            </a:r>
            <a:r>
              <a:rPr lang="ko-KR" altLang="ko-KR" dirty="0"/>
              <a:t>. </a:t>
            </a:r>
            <a:r>
              <a:rPr lang="ko-KR" altLang="ko-KR" dirty="0" err="1"/>
              <a:t>Stacking</a:t>
            </a:r>
            <a:r>
              <a:rPr lang="ko-KR" altLang="ko-KR" dirty="0"/>
              <a:t> </a:t>
            </a:r>
            <a:r>
              <a:rPr lang="ko-KR" altLang="ko-KR" dirty="0" err="1"/>
              <a:t>turns</a:t>
            </a:r>
            <a:r>
              <a:rPr lang="ko-KR" altLang="ko-KR" dirty="0"/>
              <a:t> </a:t>
            </a:r>
            <a:r>
              <a:rPr lang="ko-KR" altLang="ko-KR" dirty="0" err="1"/>
              <a:t>edges</a:t>
            </a:r>
            <a:r>
              <a:rPr lang="ko-KR" altLang="ko-KR" dirty="0"/>
              <a:t> </a:t>
            </a:r>
            <a:r>
              <a:rPr lang="ko-KR" altLang="ko-KR" dirty="0" err="1"/>
              <a:t>into</a:t>
            </a:r>
            <a:r>
              <a:rPr lang="ko-KR" altLang="ko-KR" dirty="0"/>
              <a:t> </a:t>
            </a:r>
            <a:r>
              <a:rPr lang="ko-KR" altLang="ko-KR" dirty="0" err="1"/>
              <a:t>parts</a:t>
            </a:r>
            <a:r>
              <a:rPr lang="ko-KR" altLang="ko-KR" dirty="0"/>
              <a:t> and </a:t>
            </a:r>
            <a:r>
              <a:rPr lang="ko-KR" altLang="ko-KR" dirty="0" err="1"/>
              <a:t>objects</a:t>
            </a:r>
            <a:r>
              <a:rPr lang="ko-KR" altLang="ko-KR" dirty="0"/>
              <a:t>. And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filters</a:t>
            </a:r>
            <a:r>
              <a:rPr lang="ko-KR" altLang="ko-KR" dirty="0"/>
              <a:t> </a:t>
            </a:r>
            <a:r>
              <a:rPr lang="ko-KR" altLang="ko-KR" dirty="0" err="1"/>
              <a:t>are</a:t>
            </a:r>
            <a:r>
              <a:rPr lang="ko-KR" altLang="ko-KR" dirty="0"/>
              <a:t> </a:t>
            </a:r>
            <a:r>
              <a:rPr lang="ko-KR" altLang="ko-KR" dirty="0" err="1"/>
              <a:t>learned</a:t>
            </a:r>
            <a:r>
              <a:rPr lang="ko-KR" altLang="ko-KR" dirty="0"/>
              <a:t> </a:t>
            </a:r>
            <a:r>
              <a:rPr lang="ko-KR" altLang="ko-KR" dirty="0" err="1"/>
              <a:t>by</a:t>
            </a:r>
            <a:r>
              <a:rPr lang="ko-KR" altLang="ko-KR" dirty="0"/>
              <a:t> </a:t>
            </a:r>
            <a:r>
              <a:rPr lang="ko-KR" altLang="ko-KR" dirty="0" err="1"/>
              <a:t>backpropagation</a:t>
            </a:r>
            <a:r>
              <a:rPr lang="ko-KR" altLang="ko-KR" dirty="0"/>
              <a:t>.</a:t>
            </a:r>
          </a:p>
          <a:p>
            <a:pPr rtl="0"/>
            <a:r>
              <a:rPr lang="ko-KR" altLang="ko-KR" dirty="0" err="1"/>
              <a:t>Deeper</a:t>
            </a:r>
            <a:r>
              <a:rPr lang="ko-KR" altLang="ko-KR" dirty="0"/>
              <a:t> </a:t>
            </a:r>
            <a:r>
              <a:rPr lang="ko-KR" altLang="ko-KR" dirty="0" err="1"/>
              <a:t>layers</a:t>
            </a:r>
            <a:r>
              <a:rPr lang="ko-KR" altLang="ko-KR" dirty="0"/>
              <a:t> </a:t>
            </a:r>
            <a:r>
              <a:rPr lang="ko-KR" altLang="ko-KR" dirty="0" err="1"/>
              <a:t>see</a:t>
            </a:r>
            <a:r>
              <a:rPr lang="ko-KR" altLang="ko-KR" dirty="0"/>
              <a:t> </a:t>
            </a:r>
            <a:r>
              <a:rPr lang="ko-KR" altLang="ko-KR" dirty="0" err="1"/>
              <a:t>more</a:t>
            </a:r>
            <a:r>
              <a:rPr lang="ko-KR" altLang="ko-KR" dirty="0"/>
              <a:t> of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image</a:t>
            </a:r>
            <a:r>
              <a:rPr lang="ko-KR" altLang="ko-KR" dirty="0"/>
              <a:t>. </a:t>
            </a:r>
            <a:r>
              <a:rPr lang="ko-KR" altLang="ko-KR" dirty="0" err="1"/>
              <a:t>So</a:t>
            </a:r>
            <a:r>
              <a:rPr lang="ko-KR" altLang="ko-KR" dirty="0"/>
              <a:t>, </a:t>
            </a:r>
            <a:r>
              <a:rPr lang="ko-KR" altLang="ko-KR" dirty="0" err="1"/>
              <a:t>how</a:t>
            </a:r>
            <a:r>
              <a:rPr lang="ko-KR" altLang="ko-KR" dirty="0"/>
              <a:t> </a:t>
            </a:r>
            <a:r>
              <a:rPr lang="ko-KR" altLang="ko-KR" dirty="0" err="1"/>
              <a:t>deep</a:t>
            </a:r>
            <a:r>
              <a:rPr lang="ko-KR" altLang="ko-KR" dirty="0"/>
              <a:t> </a:t>
            </a:r>
            <a:r>
              <a:rPr lang="ko-KR" altLang="ko-KR" dirty="0" err="1"/>
              <a:t>can</a:t>
            </a:r>
            <a:r>
              <a:rPr lang="ko-KR" altLang="ko-KR" dirty="0"/>
              <a:t> </a:t>
            </a:r>
            <a:r>
              <a:rPr lang="ko-KR" altLang="ko-KR" dirty="0" err="1"/>
              <a:t>we</a:t>
            </a:r>
            <a:r>
              <a:rPr lang="ko-KR" altLang="ko-KR" dirty="0"/>
              <a:t> </a:t>
            </a:r>
            <a:r>
              <a:rPr lang="ko-KR" altLang="ko-KR" dirty="0" err="1"/>
              <a:t>go</a:t>
            </a:r>
            <a:r>
              <a:rPr lang="ko-KR" altLang="ko-KR" dirty="0"/>
              <a:t>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rtl="0"/>
            <a:r>
              <a:rPr lang="ko-KR" altLang="ko-KR" dirty="0" err="1"/>
              <a:t>LeNet</a:t>
            </a:r>
            <a:r>
              <a:rPr lang="ko-KR" altLang="ko-KR" dirty="0"/>
              <a:t> </a:t>
            </a:r>
            <a:r>
              <a:rPr lang="ko-KR" altLang="ko-KR" dirty="0" err="1"/>
              <a:t>already</a:t>
            </a:r>
            <a:r>
              <a:rPr lang="ko-KR" altLang="ko-KR" dirty="0"/>
              <a:t> </a:t>
            </a:r>
            <a:r>
              <a:rPr lang="ko-KR" altLang="ko-KR" dirty="0" err="1"/>
              <a:t>had</a:t>
            </a:r>
            <a:r>
              <a:rPr lang="ko-KR" altLang="ko-KR" dirty="0"/>
              <a:t> </a:t>
            </a:r>
            <a:r>
              <a:rPr lang="ko-KR" altLang="ko-KR" dirty="0" err="1"/>
              <a:t>this</a:t>
            </a:r>
            <a:r>
              <a:rPr lang="ko-KR" altLang="ko-KR" dirty="0"/>
              <a:t> </a:t>
            </a:r>
            <a:r>
              <a:rPr lang="ko-KR" altLang="ko-KR" dirty="0" err="1"/>
              <a:t>design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1998, </a:t>
            </a:r>
            <a:r>
              <a:rPr lang="ko-KR" altLang="ko-KR" dirty="0" err="1"/>
              <a:t>but</a:t>
            </a:r>
            <a:r>
              <a:rPr lang="ko-KR" altLang="ko-KR" dirty="0"/>
              <a:t> </a:t>
            </a:r>
            <a:r>
              <a:rPr lang="ko-KR" altLang="ko-KR" dirty="0" err="1"/>
              <a:t>there</a:t>
            </a:r>
            <a:r>
              <a:rPr lang="ko-KR" altLang="ko-KR" dirty="0"/>
              <a:t> </a:t>
            </a:r>
            <a:r>
              <a:rPr lang="ko-KR" altLang="ko-KR" dirty="0" err="1"/>
              <a:t>was</a:t>
            </a:r>
            <a:r>
              <a:rPr lang="ko-KR" altLang="ko-KR" dirty="0"/>
              <a:t> </a:t>
            </a:r>
            <a:r>
              <a:rPr lang="ko-KR" altLang="ko-KR" dirty="0" err="1"/>
              <a:t>not</a:t>
            </a:r>
            <a:r>
              <a:rPr lang="ko-KR" altLang="ko-KR" dirty="0"/>
              <a:t> </a:t>
            </a:r>
            <a:r>
              <a:rPr lang="ko-KR" altLang="ko-KR" dirty="0" err="1"/>
              <a:t>enough</a:t>
            </a:r>
            <a:r>
              <a:rPr lang="ko-KR" altLang="ko-KR" dirty="0"/>
              <a:t> </a:t>
            </a:r>
            <a:r>
              <a:rPr lang="ko-KR" altLang="ko-KR" dirty="0" err="1"/>
              <a:t>data</a:t>
            </a:r>
            <a:r>
              <a:rPr lang="ko-KR" altLang="ko-KR" dirty="0"/>
              <a:t> </a:t>
            </a:r>
            <a:r>
              <a:rPr lang="ko-KR" altLang="ko-KR" dirty="0" err="1"/>
              <a:t>or</a:t>
            </a:r>
            <a:r>
              <a:rPr lang="ko-KR" altLang="ko-KR" dirty="0"/>
              <a:t> </a:t>
            </a:r>
            <a:r>
              <a:rPr lang="ko-KR" altLang="ko-KR" dirty="0" err="1"/>
              <a:t>compute</a:t>
            </a:r>
            <a:r>
              <a:rPr lang="ko-KR" altLang="ko-KR" dirty="0"/>
              <a:t>.</a:t>
            </a:r>
          </a:p>
          <a:p>
            <a:pPr rtl="0"/>
            <a:r>
              <a:rPr lang="ko-KR" altLang="ko-KR" dirty="0" err="1"/>
              <a:t>AlexNet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2012 </a:t>
            </a:r>
            <a:r>
              <a:rPr lang="ko-KR" altLang="ko-KR" dirty="0" err="1"/>
              <a:t>made</a:t>
            </a:r>
            <a:r>
              <a:rPr lang="ko-KR" altLang="ko-KR" dirty="0"/>
              <a:t> </a:t>
            </a:r>
            <a:r>
              <a:rPr lang="ko-KR" altLang="ko-KR" dirty="0" err="1"/>
              <a:t>depth</a:t>
            </a:r>
            <a:r>
              <a:rPr lang="ko-KR" altLang="ko-KR" dirty="0"/>
              <a:t> </a:t>
            </a:r>
            <a:r>
              <a:rPr lang="ko-KR" altLang="ko-KR" dirty="0" err="1"/>
              <a:t>trainable</a:t>
            </a:r>
            <a:r>
              <a:rPr lang="ko-KR" altLang="ko-KR" dirty="0"/>
              <a:t> — </a:t>
            </a:r>
            <a:r>
              <a:rPr lang="ko-KR" altLang="ko-KR" dirty="0" err="1"/>
              <a:t>with</a:t>
            </a:r>
            <a:r>
              <a:rPr lang="ko-KR" altLang="ko-KR" dirty="0"/>
              <a:t> </a:t>
            </a:r>
            <a:r>
              <a:rPr lang="ko-KR" altLang="ko-KR" dirty="0" err="1"/>
              <a:t>GPUs</a:t>
            </a:r>
            <a:r>
              <a:rPr lang="ko-KR" altLang="ko-KR" dirty="0"/>
              <a:t>, </a:t>
            </a:r>
            <a:r>
              <a:rPr lang="ko-KR" altLang="ko-KR" dirty="0" err="1"/>
              <a:t>ImageNet</a:t>
            </a:r>
            <a:r>
              <a:rPr lang="ko-KR" altLang="ko-KR" dirty="0"/>
              <a:t>, </a:t>
            </a:r>
            <a:r>
              <a:rPr lang="ko-KR" altLang="ko-KR" dirty="0" err="1"/>
              <a:t>ReLU</a:t>
            </a:r>
            <a:r>
              <a:rPr lang="ko-KR" altLang="ko-KR" dirty="0"/>
              <a:t>, and </a:t>
            </a:r>
            <a:r>
              <a:rPr lang="ko-KR" altLang="ko-KR" dirty="0" err="1"/>
              <a:t>dropout</a:t>
            </a:r>
            <a:r>
              <a:rPr lang="ko-KR" altLang="ko-KR" dirty="0"/>
              <a:t>. The </a:t>
            </a:r>
            <a:r>
              <a:rPr lang="ko-KR" altLang="ko-KR" dirty="0" err="1"/>
              <a:t>error</a:t>
            </a:r>
            <a:r>
              <a:rPr lang="ko-KR" altLang="ko-KR" dirty="0"/>
              <a:t> </a:t>
            </a:r>
            <a:r>
              <a:rPr lang="ko-KR" altLang="ko-KR" dirty="0" err="1"/>
              <a:t>fell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about</a:t>
            </a:r>
            <a:r>
              <a:rPr lang="ko-KR" altLang="ko-KR" dirty="0"/>
              <a:t> 16 </a:t>
            </a:r>
            <a:r>
              <a:rPr lang="ko-KR" altLang="ko-KR" dirty="0" err="1"/>
              <a:t>percent</a:t>
            </a:r>
            <a:r>
              <a:rPr lang="ko-KR" altLang="ko-KR" dirty="0"/>
              <a:t>.</a:t>
            </a:r>
          </a:p>
          <a:p>
            <a:pPr rtl="0"/>
            <a:r>
              <a:rPr lang="ko-KR" altLang="ko-KR" dirty="0"/>
              <a:t>VGG </a:t>
            </a:r>
            <a:r>
              <a:rPr lang="ko-KR" altLang="ko-KR" dirty="0" err="1"/>
              <a:t>in</a:t>
            </a:r>
            <a:r>
              <a:rPr lang="ko-KR" altLang="ko-KR" dirty="0"/>
              <a:t> 2014 </a:t>
            </a:r>
            <a:r>
              <a:rPr lang="ko-KR" altLang="ko-KR" dirty="0" err="1"/>
              <a:t>made</a:t>
            </a:r>
            <a:r>
              <a:rPr lang="ko-KR" altLang="ko-KR" dirty="0"/>
              <a:t> </a:t>
            </a:r>
            <a:r>
              <a:rPr lang="ko-KR" altLang="ko-KR" dirty="0" err="1"/>
              <a:t>depth</a:t>
            </a:r>
            <a:r>
              <a:rPr lang="ko-KR" altLang="ko-KR" dirty="0"/>
              <a:t> </a:t>
            </a:r>
            <a:r>
              <a:rPr lang="ko-KR" altLang="ko-KR" dirty="0" err="1"/>
              <a:t>simple</a:t>
            </a:r>
            <a:r>
              <a:rPr lang="ko-KR" altLang="ko-KR" dirty="0"/>
              <a:t>. </a:t>
            </a:r>
            <a:r>
              <a:rPr lang="ko-KR" altLang="ko-KR" dirty="0" err="1"/>
              <a:t>Three</a:t>
            </a:r>
            <a:r>
              <a:rPr lang="ko-KR" altLang="ko-KR" dirty="0"/>
              <a:t> 3 </a:t>
            </a:r>
            <a:r>
              <a:rPr lang="ko-KR" altLang="ko-KR" dirty="0" err="1"/>
              <a:t>by</a:t>
            </a:r>
            <a:r>
              <a:rPr lang="ko-KR" altLang="ko-KR" dirty="0"/>
              <a:t> 3 </a:t>
            </a:r>
            <a:r>
              <a:rPr lang="ko-KR" altLang="ko-KR" dirty="0" err="1"/>
              <a:t>layers</a:t>
            </a:r>
            <a:r>
              <a:rPr lang="ko-KR" altLang="ko-KR" dirty="0"/>
              <a:t> </a:t>
            </a:r>
            <a:r>
              <a:rPr lang="ko-KR" altLang="ko-KR" dirty="0" err="1"/>
              <a:t>see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same</a:t>
            </a:r>
            <a:r>
              <a:rPr lang="ko-KR" altLang="ko-KR" dirty="0"/>
              <a:t> </a:t>
            </a:r>
            <a:r>
              <a:rPr lang="ko-KR" altLang="ko-KR" dirty="0" err="1"/>
              <a:t>area</a:t>
            </a:r>
            <a:r>
              <a:rPr lang="ko-KR" altLang="ko-KR" dirty="0"/>
              <a:t> </a:t>
            </a:r>
            <a:r>
              <a:rPr lang="ko-KR" altLang="ko-KR" dirty="0" err="1"/>
              <a:t>as</a:t>
            </a:r>
            <a:r>
              <a:rPr lang="ko-KR" altLang="ko-KR" dirty="0"/>
              <a:t> </a:t>
            </a:r>
            <a:r>
              <a:rPr lang="ko-KR" altLang="ko-KR" dirty="0" err="1"/>
              <a:t>one</a:t>
            </a:r>
            <a:r>
              <a:rPr lang="ko-KR" altLang="ko-KR" dirty="0"/>
              <a:t> 7 </a:t>
            </a:r>
            <a:r>
              <a:rPr lang="ko-KR" altLang="ko-KR" dirty="0" err="1"/>
              <a:t>by</a:t>
            </a:r>
            <a:r>
              <a:rPr lang="ko-KR" altLang="ko-KR" dirty="0"/>
              <a:t> 7, </a:t>
            </a:r>
            <a:r>
              <a:rPr lang="ko-KR" altLang="ko-KR" dirty="0" err="1"/>
              <a:t>with</a:t>
            </a:r>
            <a:r>
              <a:rPr lang="ko-KR" altLang="ko-KR" dirty="0"/>
              <a:t> </a:t>
            </a:r>
            <a:r>
              <a:rPr lang="ko-KR" altLang="ko-KR" dirty="0" err="1"/>
              <a:t>fewer</a:t>
            </a:r>
            <a:r>
              <a:rPr lang="ko-KR" altLang="ko-KR" dirty="0"/>
              <a:t> </a:t>
            </a:r>
            <a:r>
              <a:rPr lang="ko-KR" altLang="ko-KR" dirty="0" err="1"/>
              <a:t>weights</a:t>
            </a:r>
            <a:r>
              <a:rPr lang="ko-KR" altLang="ko-KR" dirty="0"/>
              <a:t>. </a:t>
            </a:r>
            <a:r>
              <a:rPr lang="ko-KR" altLang="ko-KR" dirty="0" err="1"/>
              <a:t>So</a:t>
            </a:r>
            <a:r>
              <a:rPr lang="ko-KR" altLang="ko-KR" dirty="0"/>
              <a:t> VGG </a:t>
            </a:r>
            <a:r>
              <a:rPr lang="ko-KR" altLang="ko-KR" dirty="0" err="1"/>
              <a:t>just</a:t>
            </a:r>
            <a:r>
              <a:rPr lang="ko-KR" altLang="ko-KR" dirty="0"/>
              <a:t> </a:t>
            </a:r>
            <a:r>
              <a:rPr lang="ko-KR" altLang="ko-KR" dirty="0" err="1"/>
              <a:t>repeats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same</a:t>
            </a:r>
            <a:r>
              <a:rPr lang="ko-KR" altLang="ko-KR" dirty="0"/>
              <a:t> </a:t>
            </a:r>
            <a:r>
              <a:rPr lang="ko-KR" altLang="ko-KR" dirty="0" err="1"/>
              <a:t>block</a:t>
            </a:r>
            <a:r>
              <a:rPr lang="ko-KR" altLang="ko-KR" dirty="0"/>
              <a:t> — 19 </a:t>
            </a:r>
            <a:r>
              <a:rPr lang="ko-KR" altLang="ko-KR" dirty="0" err="1"/>
              <a:t>layers</a:t>
            </a:r>
            <a:r>
              <a:rPr lang="ko-KR" altLang="ko-KR" dirty="0"/>
              <a:t>, 7.3 </a:t>
            </a:r>
            <a:r>
              <a:rPr lang="ko-KR" altLang="ko-KR" dirty="0" err="1"/>
              <a:t>percent</a:t>
            </a:r>
            <a:r>
              <a:rPr lang="ko-KR" altLang="ko-KR" dirty="0"/>
              <a:t>.</a:t>
            </a:r>
          </a:p>
          <a:p>
            <a:pPr rtl="0"/>
            <a:r>
              <a:rPr lang="ko-KR" altLang="ko-KR" dirty="0"/>
              <a:t>The </a:t>
            </a:r>
            <a:r>
              <a:rPr lang="ko-KR" altLang="ko-KR" dirty="0" err="1"/>
              <a:t>lesson</a:t>
            </a:r>
            <a:r>
              <a:rPr lang="ko-KR" altLang="ko-KR" dirty="0"/>
              <a:t>: </a:t>
            </a:r>
            <a:r>
              <a:rPr lang="ko-KR" altLang="ko-KR" dirty="0" err="1"/>
              <a:t>deeper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better</a:t>
            </a:r>
            <a:r>
              <a:rPr lang="ko-KR" altLang="ko-KR" dirty="0"/>
              <a:t> — </a:t>
            </a:r>
            <a:r>
              <a:rPr lang="ko-KR" altLang="ko-KR" dirty="0" err="1"/>
              <a:t>if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network</a:t>
            </a:r>
            <a:r>
              <a:rPr lang="ko-KR" altLang="ko-KR" dirty="0"/>
              <a:t> </a:t>
            </a:r>
            <a:r>
              <a:rPr lang="ko-KR" altLang="ko-KR" dirty="0" err="1"/>
              <a:t>can</a:t>
            </a:r>
            <a:r>
              <a:rPr lang="ko-KR" altLang="ko-KR" dirty="0"/>
              <a:t> </a:t>
            </a:r>
            <a:r>
              <a:rPr lang="ko-KR" altLang="ko-KR" dirty="0" err="1"/>
              <a:t>be</a:t>
            </a:r>
            <a:r>
              <a:rPr lang="ko-KR" altLang="ko-KR" dirty="0"/>
              <a:t> </a:t>
            </a:r>
            <a:r>
              <a:rPr lang="ko-KR" altLang="ko-KR" dirty="0" err="1"/>
              <a:t>trained</a:t>
            </a:r>
            <a:r>
              <a:rPr lang="ko-KR" altLang="ko-KR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rtl="0"/>
            <a:r>
              <a:rPr lang="ko-KR" altLang="ko-KR" dirty="0" err="1"/>
              <a:t>But</a:t>
            </a:r>
            <a:r>
              <a:rPr lang="ko-KR" altLang="ko-KR" dirty="0"/>
              <a:t> </a:t>
            </a:r>
            <a:r>
              <a:rPr lang="ko-KR" altLang="ko-KR" dirty="0" err="1"/>
              <a:t>deeper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not</a:t>
            </a:r>
            <a:r>
              <a:rPr lang="ko-KR" altLang="ko-KR" dirty="0"/>
              <a:t> </a:t>
            </a:r>
            <a:r>
              <a:rPr lang="ko-KR" altLang="ko-KR" dirty="0" err="1"/>
              <a:t>free</a:t>
            </a:r>
            <a:r>
              <a:rPr lang="ko-KR" altLang="ko-KR" dirty="0"/>
              <a:t>. </a:t>
            </a:r>
            <a:r>
              <a:rPr lang="ko-KR" altLang="ko-KR" dirty="0" err="1"/>
              <a:t>A</a:t>
            </a:r>
            <a:r>
              <a:rPr lang="ko-KR" altLang="ko-KR" dirty="0"/>
              <a:t> 56-layer </a:t>
            </a:r>
            <a:r>
              <a:rPr lang="ko-KR" altLang="ko-KR" dirty="0" err="1"/>
              <a:t>network</a:t>
            </a:r>
            <a:r>
              <a:rPr lang="ko-KR" altLang="ko-KR" dirty="0"/>
              <a:t> </a:t>
            </a:r>
            <a:r>
              <a:rPr lang="ko-KR" altLang="ko-KR" dirty="0" err="1"/>
              <a:t>was</a:t>
            </a:r>
            <a:r>
              <a:rPr lang="ko-KR" altLang="ko-KR" dirty="0"/>
              <a:t> </a:t>
            </a:r>
            <a:r>
              <a:rPr lang="ko-KR" altLang="ko-KR" dirty="0" err="1"/>
              <a:t>worse</a:t>
            </a:r>
            <a:r>
              <a:rPr lang="ko-KR" altLang="ko-KR" dirty="0"/>
              <a:t> </a:t>
            </a:r>
            <a:r>
              <a:rPr lang="ko-KR" altLang="ko-KR" dirty="0" err="1"/>
              <a:t>than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20-layer </a:t>
            </a:r>
            <a:r>
              <a:rPr lang="ko-KR" altLang="ko-KR" dirty="0" err="1"/>
              <a:t>one</a:t>
            </a:r>
            <a:r>
              <a:rPr lang="ko-KR" altLang="ko-KR" dirty="0"/>
              <a:t>. And </a:t>
            </a:r>
            <a:r>
              <a:rPr lang="ko-KR" altLang="ko-KR" dirty="0" err="1"/>
              <a:t>even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training</a:t>
            </a:r>
            <a:r>
              <a:rPr lang="ko-KR" altLang="ko-KR" dirty="0"/>
              <a:t> </a:t>
            </a:r>
            <a:r>
              <a:rPr lang="ko-KR" altLang="ko-KR" dirty="0" err="1"/>
              <a:t>error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worse</a:t>
            </a:r>
            <a:r>
              <a:rPr lang="ko-KR" altLang="ko-KR" dirty="0"/>
              <a:t> — </a:t>
            </a:r>
            <a:r>
              <a:rPr lang="ko-KR" altLang="ko-KR" dirty="0" err="1"/>
              <a:t>so</a:t>
            </a:r>
            <a:r>
              <a:rPr lang="ko-KR" altLang="ko-KR" dirty="0"/>
              <a:t> </a:t>
            </a:r>
            <a:r>
              <a:rPr lang="ko-KR" altLang="ko-KR" dirty="0" err="1"/>
              <a:t>it’s</a:t>
            </a:r>
            <a:r>
              <a:rPr lang="ko-KR" altLang="ko-KR" dirty="0"/>
              <a:t> </a:t>
            </a:r>
            <a:r>
              <a:rPr lang="ko-KR" altLang="ko-KR" dirty="0" err="1"/>
              <a:t>not</a:t>
            </a:r>
            <a:r>
              <a:rPr lang="ko-KR" altLang="ko-KR" dirty="0"/>
              <a:t> </a:t>
            </a:r>
            <a:r>
              <a:rPr lang="ko-KR" altLang="ko-KR" dirty="0" err="1"/>
              <a:t>overfitting</a:t>
            </a:r>
            <a:r>
              <a:rPr lang="ko-KR" altLang="ko-KR" dirty="0"/>
              <a:t>. </a:t>
            </a:r>
            <a:r>
              <a:rPr lang="ko-KR" altLang="ko-KR" dirty="0" err="1"/>
              <a:t>It’s</a:t>
            </a:r>
            <a:r>
              <a:rPr lang="ko-KR" altLang="ko-KR" dirty="0"/>
              <a:t> </a:t>
            </a:r>
            <a:r>
              <a:rPr lang="ko-KR" altLang="ko-KR" dirty="0" err="1"/>
              <a:t>an</a:t>
            </a:r>
            <a:r>
              <a:rPr lang="ko-KR" altLang="ko-KR" dirty="0"/>
              <a:t> </a:t>
            </a:r>
            <a:r>
              <a:rPr lang="ko-KR" altLang="ko-KR" dirty="0" err="1"/>
              <a:t>optimization</a:t>
            </a:r>
            <a:r>
              <a:rPr lang="ko-KR" altLang="ko-KR" dirty="0"/>
              <a:t> </a:t>
            </a:r>
            <a:r>
              <a:rPr lang="ko-KR" altLang="ko-KR" dirty="0" err="1"/>
              <a:t>problem</a:t>
            </a:r>
            <a:r>
              <a:rPr lang="ko-KR" altLang="ko-KR" dirty="0"/>
              <a:t>.</a:t>
            </a:r>
          </a:p>
          <a:p>
            <a:pPr rtl="0"/>
            <a:r>
              <a:rPr lang="ko-KR" altLang="ko-KR" dirty="0" err="1"/>
              <a:t>ResNet’s</a:t>
            </a:r>
            <a:r>
              <a:rPr lang="ko-KR" altLang="ko-KR" dirty="0"/>
              <a:t> </a:t>
            </a:r>
            <a:r>
              <a:rPr lang="ko-KR" altLang="ko-KR" dirty="0" err="1"/>
              <a:t>solution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residual</a:t>
            </a:r>
            <a:r>
              <a:rPr lang="ko-KR" altLang="ko-KR" dirty="0"/>
              <a:t> </a:t>
            </a:r>
            <a:r>
              <a:rPr lang="ko-KR" altLang="ko-KR" dirty="0" err="1"/>
              <a:t>block</a:t>
            </a:r>
            <a:r>
              <a:rPr lang="ko-KR" altLang="ko-KR" dirty="0"/>
              <a:t>. </a:t>
            </a:r>
            <a:r>
              <a:rPr lang="ko-KR" altLang="ko-KR" dirty="0" err="1"/>
              <a:t>We</a:t>
            </a:r>
            <a:r>
              <a:rPr lang="ko-KR" altLang="ko-KR" dirty="0"/>
              <a:t> </a:t>
            </a:r>
            <a:r>
              <a:rPr lang="ko-KR" altLang="ko-KR" dirty="0" err="1"/>
              <a:t>add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input</a:t>
            </a:r>
            <a:r>
              <a:rPr lang="ko-KR" altLang="ko-KR" dirty="0"/>
              <a:t> </a:t>
            </a:r>
            <a:r>
              <a:rPr lang="ko-KR" altLang="ko-KR" dirty="0" err="1"/>
              <a:t>x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output</a:t>
            </a:r>
            <a:r>
              <a:rPr lang="ko-KR" altLang="ko-KR" dirty="0"/>
              <a:t>, </a:t>
            </a:r>
            <a:r>
              <a:rPr lang="ko-KR" altLang="ko-KR" dirty="0" err="1"/>
              <a:t>so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layers</a:t>
            </a:r>
            <a:r>
              <a:rPr lang="ko-KR" altLang="ko-KR" dirty="0"/>
              <a:t> </a:t>
            </a:r>
            <a:r>
              <a:rPr lang="ko-KR" altLang="ko-KR" dirty="0" err="1"/>
              <a:t>only</a:t>
            </a:r>
            <a:r>
              <a:rPr lang="ko-KR" altLang="ko-KR" dirty="0"/>
              <a:t> </a:t>
            </a:r>
            <a:r>
              <a:rPr lang="ko-KR" altLang="ko-KR" dirty="0" err="1"/>
              <a:t>learn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difference</a:t>
            </a:r>
            <a:r>
              <a:rPr lang="ko-KR" altLang="ko-KR" dirty="0"/>
              <a:t>, </a:t>
            </a:r>
            <a:r>
              <a:rPr lang="ko-KR" altLang="ko-KR" dirty="0" err="1"/>
              <a:t>F</a:t>
            </a:r>
            <a:r>
              <a:rPr lang="ko-KR" altLang="ko-KR" dirty="0"/>
              <a:t> of </a:t>
            </a:r>
            <a:r>
              <a:rPr lang="ko-KR" altLang="ko-KR" dirty="0" err="1"/>
              <a:t>x</a:t>
            </a:r>
            <a:r>
              <a:rPr lang="ko-KR" altLang="ko-KR" dirty="0"/>
              <a:t>. </a:t>
            </a:r>
            <a:r>
              <a:rPr lang="ko-KR" altLang="ko-KR" dirty="0" err="1"/>
              <a:t>If</a:t>
            </a:r>
            <a:r>
              <a:rPr lang="ko-KR" altLang="ko-KR" dirty="0"/>
              <a:t> </a:t>
            </a:r>
            <a:r>
              <a:rPr lang="ko-KR" altLang="ko-KR" dirty="0" err="1"/>
              <a:t>F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zero</a:t>
            </a:r>
            <a:r>
              <a:rPr lang="ko-KR" altLang="ko-KR" dirty="0"/>
              <a:t>, </a:t>
            </a:r>
            <a:r>
              <a:rPr lang="ko-KR" altLang="ko-KR" dirty="0" err="1"/>
              <a:t>we</a:t>
            </a:r>
            <a:r>
              <a:rPr lang="ko-KR" altLang="ko-KR" dirty="0"/>
              <a:t> </a:t>
            </a:r>
            <a:r>
              <a:rPr lang="ko-KR" altLang="ko-KR" dirty="0" err="1"/>
              <a:t>just</a:t>
            </a:r>
            <a:r>
              <a:rPr lang="ko-KR" altLang="ko-KR" dirty="0"/>
              <a:t> </a:t>
            </a:r>
            <a:r>
              <a:rPr lang="ko-KR" altLang="ko-KR" dirty="0" err="1"/>
              <a:t>get</a:t>
            </a:r>
            <a:r>
              <a:rPr lang="ko-KR" altLang="ko-KR" dirty="0"/>
              <a:t> </a:t>
            </a:r>
            <a:r>
              <a:rPr lang="ko-KR" altLang="ko-KR" dirty="0" err="1"/>
              <a:t>x</a:t>
            </a:r>
            <a:r>
              <a:rPr lang="ko-KR" altLang="ko-KR" dirty="0"/>
              <a:t> </a:t>
            </a:r>
            <a:r>
              <a:rPr lang="ko-KR" altLang="ko-KR" dirty="0" err="1"/>
              <a:t>back</a:t>
            </a:r>
            <a:r>
              <a:rPr lang="ko-KR" altLang="ko-KR" dirty="0"/>
              <a:t> — </a:t>
            </a:r>
            <a:r>
              <a:rPr lang="ko-KR" altLang="ko-KR" dirty="0" err="1"/>
              <a:t>so</a:t>
            </a:r>
            <a:r>
              <a:rPr lang="ko-KR" altLang="ko-KR" dirty="0"/>
              <a:t> </a:t>
            </a:r>
            <a:r>
              <a:rPr lang="ko-KR" altLang="ko-KR" dirty="0" err="1"/>
              <a:t>learning</a:t>
            </a:r>
            <a:r>
              <a:rPr lang="ko-KR" altLang="ko-KR" dirty="0"/>
              <a:t> </a:t>
            </a:r>
            <a:r>
              <a:rPr lang="ko-KR" altLang="ko-KR" dirty="0" err="1"/>
              <a:t>identity</a:t>
            </a:r>
            <a:r>
              <a:rPr lang="ko-KR" altLang="ko-KR" dirty="0"/>
              <a:t> </a:t>
            </a:r>
            <a:r>
              <a:rPr lang="ko-KR" altLang="ko-KR" dirty="0" err="1"/>
              <a:t>becomes</a:t>
            </a:r>
            <a:r>
              <a:rPr lang="ko-KR" altLang="ko-KR" dirty="0"/>
              <a:t> </a:t>
            </a:r>
            <a:r>
              <a:rPr lang="ko-KR" altLang="ko-KR" dirty="0" err="1"/>
              <a:t>easy</a:t>
            </a:r>
            <a:r>
              <a:rPr lang="ko-KR" altLang="ko-KR" dirty="0"/>
              <a:t>, and </a:t>
            </a:r>
            <a:r>
              <a:rPr lang="ko-KR" altLang="ko-KR" dirty="0" err="1"/>
              <a:t>extra</a:t>
            </a:r>
            <a:r>
              <a:rPr lang="ko-KR" altLang="ko-KR" dirty="0"/>
              <a:t> </a:t>
            </a:r>
            <a:r>
              <a:rPr lang="ko-KR" altLang="ko-KR" dirty="0" err="1"/>
              <a:t>layers</a:t>
            </a:r>
            <a:r>
              <a:rPr lang="ko-KR" altLang="ko-KR" dirty="0"/>
              <a:t> </a:t>
            </a:r>
            <a:r>
              <a:rPr lang="ko-KR" altLang="ko-KR" dirty="0" err="1"/>
              <a:t>don’t</a:t>
            </a:r>
            <a:r>
              <a:rPr lang="ko-KR" altLang="ko-KR" dirty="0"/>
              <a:t> </a:t>
            </a:r>
            <a:r>
              <a:rPr lang="ko-KR" altLang="ko-KR" dirty="0" err="1"/>
              <a:t>hurt</a:t>
            </a:r>
            <a:r>
              <a:rPr lang="ko-KR" altLang="ko-KR" dirty="0"/>
              <a:t>. </a:t>
            </a:r>
            <a:r>
              <a:rPr lang="ko-KR" altLang="ko-KR" dirty="0" err="1"/>
              <a:t>Gradients</a:t>
            </a:r>
            <a:r>
              <a:rPr lang="ko-KR" altLang="ko-KR" dirty="0"/>
              <a:t> </a:t>
            </a:r>
            <a:r>
              <a:rPr lang="ko-KR" altLang="ko-KR" dirty="0" err="1"/>
              <a:t>also</a:t>
            </a:r>
            <a:r>
              <a:rPr lang="ko-KR" altLang="ko-KR" dirty="0"/>
              <a:t> </a:t>
            </a:r>
            <a:r>
              <a:rPr lang="ko-KR" altLang="ko-KR" dirty="0" err="1"/>
              <a:t>flow</a:t>
            </a:r>
            <a:r>
              <a:rPr lang="ko-KR" altLang="ko-KR" dirty="0"/>
              <a:t> </a:t>
            </a:r>
            <a:r>
              <a:rPr lang="ko-KR" altLang="ko-KR" dirty="0" err="1"/>
              <a:t>straight</a:t>
            </a:r>
            <a:r>
              <a:rPr lang="ko-KR" altLang="ko-KR" dirty="0"/>
              <a:t> </a:t>
            </a:r>
            <a:r>
              <a:rPr lang="ko-KR" altLang="ko-KR" dirty="0" err="1"/>
              <a:t>through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skip</a:t>
            </a:r>
            <a:r>
              <a:rPr lang="ko-KR" altLang="ko-KR" dirty="0"/>
              <a:t> </a:t>
            </a:r>
            <a:r>
              <a:rPr lang="ko-KR" altLang="ko-KR" dirty="0" err="1"/>
              <a:t>path</a:t>
            </a:r>
            <a:r>
              <a:rPr lang="ko-KR" altLang="ko-KR" dirty="0"/>
              <a:t>.</a:t>
            </a:r>
          </a:p>
          <a:p>
            <a:pPr rtl="0"/>
            <a:r>
              <a:rPr lang="ko-KR" altLang="ko-KR" dirty="0"/>
              <a:t>With </a:t>
            </a:r>
            <a:r>
              <a:rPr lang="ko-KR" altLang="ko-KR" dirty="0" err="1"/>
              <a:t>this</a:t>
            </a:r>
            <a:r>
              <a:rPr lang="ko-KR" altLang="ko-KR" dirty="0"/>
              <a:t>, </a:t>
            </a:r>
            <a:r>
              <a:rPr lang="ko-KR" altLang="ko-KR" dirty="0" err="1"/>
              <a:t>ResNet</a:t>
            </a:r>
            <a:r>
              <a:rPr lang="ko-KR" altLang="ko-KR" dirty="0"/>
              <a:t> </a:t>
            </a:r>
            <a:r>
              <a:rPr lang="ko-KR" altLang="ko-KR" dirty="0" err="1"/>
              <a:t>trained</a:t>
            </a:r>
            <a:r>
              <a:rPr lang="ko-KR" altLang="ko-KR" dirty="0"/>
              <a:t> 152 </a:t>
            </a:r>
            <a:r>
              <a:rPr lang="ko-KR" altLang="ko-KR" dirty="0" err="1"/>
              <a:t>layers</a:t>
            </a:r>
            <a:r>
              <a:rPr lang="ko-KR" altLang="ko-KR" dirty="0"/>
              <a:t> and </a:t>
            </a:r>
            <a:r>
              <a:rPr lang="ko-KR" altLang="ko-KR" dirty="0" err="1"/>
              <a:t>reached</a:t>
            </a:r>
            <a:r>
              <a:rPr lang="ko-KR" altLang="ko-KR" dirty="0"/>
              <a:t> 3.6 </a:t>
            </a:r>
            <a:r>
              <a:rPr lang="ko-KR" altLang="ko-KR" dirty="0" err="1"/>
              <a:t>percent</a:t>
            </a:r>
            <a:r>
              <a:rPr lang="ko-KR" altLang="ko-KR" dirty="0"/>
              <a:t> </a:t>
            </a:r>
            <a:r>
              <a:rPr lang="ko-KR" altLang="ko-KR" dirty="0" err="1"/>
              <a:t>error</a:t>
            </a:r>
            <a:r>
              <a:rPr lang="ko-KR" altLang="ko-KR" dirty="0"/>
              <a:t> — </a:t>
            </a:r>
            <a:r>
              <a:rPr lang="ko-KR" altLang="ko-KR" dirty="0" err="1"/>
              <a:t>below</a:t>
            </a:r>
            <a:r>
              <a:rPr lang="ko-KR" altLang="ko-KR" dirty="0"/>
              <a:t> </a:t>
            </a:r>
            <a:r>
              <a:rPr lang="ko-KR" altLang="ko-KR" dirty="0" err="1"/>
              <a:t>human</a:t>
            </a:r>
            <a:r>
              <a:rPr lang="ko-KR" altLang="ko-KR" dirty="0"/>
              <a:t> </a:t>
            </a:r>
            <a:r>
              <a:rPr lang="ko-KR" altLang="ko-KR" dirty="0" err="1"/>
              <a:t>level</a:t>
            </a:r>
            <a:r>
              <a:rPr lang="ko-KR" altLang="ko-KR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rtl="0"/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summarize</a:t>
            </a:r>
            <a:r>
              <a:rPr lang="ko-KR" altLang="ko-KR" dirty="0"/>
              <a:t>: </a:t>
            </a:r>
            <a:r>
              <a:rPr lang="ko-KR" altLang="ko-KR" dirty="0" err="1"/>
              <a:t>AlexNet</a:t>
            </a:r>
            <a:r>
              <a:rPr lang="ko-KR" altLang="ko-KR" dirty="0"/>
              <a:t> </a:t>
            </a:r>
            <a:r>
              <a:rPr lang="ko-KR" altLang="ko-KR" dirty="0" err="1"/>
              <a:t>made</a:t>
            </a:r>
            <a:r>
              <a:rPr lang="ko-KR" altLang="ko-KR" dirty="0"/>
              <a:t> </a:t>
            </a:r>
            <a:r>
              <a:rPr lang="ko-KR" altLang="ko-KR" dirty="0" err="1"/>
              <a:t>depth</a:t>
            </a:r>
            <a:r>
              <a:rPr lang="ko-KR" altLang="ko-KR" dirty="0"/>
              <a:t> </a:t>
            </a:r>
            <a:r>
              <a:rPr lang="ko-KR" altLang="ko-KR" dirty="0" err="1"/>
              <a:t>trainable</a:t>
            </a:r>
            <a:r>
              <a:rPr lang="ko-KR" altLang="ko-KR" dirty="0"/>
              <a:t>, VGG </a:t>
            </a:r>
            <a:r>
              <a:rPr lang="ko-KR" altLang="ko-KR" dirty="0" err="1"/>
              <a:t>made</a:t>
            </a:r>
            <a:r>
              <a:rPr lang="ko-KR" altLang="ko-KR" dirty="0"/>
              <a:t> </a:t>
            </a:r>
            <a:r>
              <a:rPr lang="ko-KR" altLang="ko-KR" dirty="0" err="1"/>
              <a:t>it</a:t>
            </a:r>
            <a:r>
              <a:rPr lang="ko-KR" altLang="ko-KR" dirty="0"/>
              <a:t> </a:t>
            </a:r>
            <a:r>
              <a:rPr lang="ko-KR" altLang="ko-KR" dirty="0" err="1"/>
              <a:t>simple</a:t>
            </a:r>
            <a:r>
              <a:rPr lang="ko-KR" altLang="ko-KR" dirty="0"/>
              <a:t>, and </a:t>
            </a:r>
            <a:r>
              <a:rPr lang="ko-KR" altLang="ko-KR" dirty="0" err="1"/>
              <a:t>ResNet</a:t>
            </a:r>
            <a:r>
              <a:rPr lang="ko-KR" altLang="ko-KR" dirty="0"/>
              <a:t> </a:t>
            </a:r>
            <a:r>
              <a:rPr lang="ko-KR" altLang="ko-KR" dirty="0" err="1"/>
              <a:t>made</a:t>
            </a:r>
            <a:r>
              <a:rPr lang="ko-KR" altLang="ko-KR" dirty="0"/>
              <a:t> </a:t>
            </a:r>
            <a:r>
              <a:rPr lang="ko-KR" altLang="ko-KR" dirty="0" err="1"/>
              <a:t>it</a:t>
            </a:r>
            <a:r>
              <a:rPr lang="ko-KR" altLang="ko-KR" dirty="0"/>
              <a:t> </a:t>
            </a:r>
            <a:r>
              <a:rPr lang="ko-KR" altLang="ko-KR" dirty="0" err="1"/>
              <a:t>optimizable</a:t>
            </a:r>
            <a:r>
              <a:rPr lang="ko-KR" altLang="ko-KR" dirty="0"/>
              <a:t>.</a:t>
            </a:r>
          </a:p>
          <a:p>
            <a:pPr rtl="0"/>
            <a:r>
              <a:rPr lang="ko-KR" altLang="ko-KR" dirty="0"/>
              <a:t>And </a:t>
            </a:r>
            <a:r>
              <a:rPr lang="ko-KR" altLang="ko-KR" dirty="0" err="1"/>
              <a:t>Transformers</a:t>
            </a:r>
            <a:r>
              <a:rPr lang="ko-KR" altLang="ko-KR" dirty="0"/>
              <a:t> </a:t>
            </a:r>
            <a:r>
              <a:rPr lang="ko-KR" altLang="ko-KR" dirty="0" err="1"/>
              <a:t>use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same</a:t>
            </a:r>
            <a:r>
              <a:rPr lang="ko-KR" altLang="ko-KR" dirty="0"/>
              <a:t> </a:t>
            </a:r>
            <a:r>
              <a:rPr lang="ko-KR" altLang="ko-KR" dirty="0" err="1"/>
              <a:t>idea</a:t>
            </a:r>
            <a:r>
              <a:rPr lang="ko-KR" altLang="ko-KR" dirty="0"/>
              <a:t> — </a:t>
            </a:r>
            <a:r>
              <a:rPr lang="ko-KR" altLang="ko-KR" dirty="0" err="1"/>
              <a:t>these</a:t>
            </a:r>
            <a:r>
              <a:rPr lang="ko-KR" altLang="ko-KR" dirty="0"/>
              <a:t> plus </a:t>
            </a:r>
            <a:r>
              <a:rPr lang="ko-KR" altLang="ko-KR" dirty="0" err="1"/>
              <a:t>signs</a:t>
            </a:r>
            <a:r>
              <a:rPr lang="ko-KR" altLang="ko-KR" dirty="0"/>
              <a:t> </a:t>
            </a:r>
            <a:r>
              <a:rPr lang="ko-KR" altLang="ko-KR" dirty="0" err="1"/>
              <a:t>are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same</a:t>
            </a:r>
            <a:r>
              <a:rPr lang="ko-KR" altLang="ko-KR" dirty="0"/>
              <a:t> </a:t>
            </a:r>
            <a:r>
              <a:rPr lang="ko-KR" altLang="ko-KR" dirty="0" err="1"/>
              <a:t>skip</a:t>
            </a:r>
            <a:r>
              <a:rPr lang="ko-KR" altLang="ko-KR" dirty="0"/>
              <a:t> </a:t>
            </a:r>
            <a:r>
              <a:rPr lang="ko-KR" altLang="ko-KR" dirty="0" err="1"/>
              <a:t>connections</a:t>
            </a:r>
            <a:r>
              <a:rPr lang="ko-KR" altLang="ko-KR" dirty="0"/>
              <a:t> </a:t>
            </a:r>
            <a:r>
              <a:rPr lang="ko-KR" altLang="ko-KR" dirty="0" err="1"/>
              <a:t>we</a:t>
            </a:r>
            <a:r>
              <a:rPr lang="ko-KR" altLang="ko-KR" dirty="0"/>
              <a:t> </a:t>
            </a:r>
            <a:r>
              <a:rPr lang="ko-KR" altLang="ko-KR" dirty="0" err="1"/>
              <a:t>saw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ResNet</a:t>
            </a:r>
            <a:r>
              <a:rPr lang="ko-KR" altLang="ko-KR" dirty="0"/>
              <a:t>.</a:t>
            </a:r>
          </a:p>
          <a:p>
            <a:pPr rtl="0"/>
            <a:r>
              <a:rPr lang="ko-KR" altLang="ko-KR" dirty="0" err="1"/>
              <a:t>Depth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what</a:t>
            </a:r>
            <a:r>
              <a:rPr lang="ko-KR" altLang="ko-KR" dirty="0"/>
              <a:t> </a:t>
            </a:r>
            <a:r>
              <a:rPr lang="ko-KR" altLang="ko-KR" dirty="0" err="1"/>
              <a:t>makes</a:t>
            </a:r>
            <a:r>
              <a:rPr lang="ko-KR" altLang="ko-KR" dirty="0"/>
              <a:t> </a:t>
            </a:r>
            <a:r>
              <a:rPr lang="ko-KR" altLang="ko-KR" dirty="0" err="1"/>
              <a:t>deep</a:t>
            </a:r>
            <a:r>
              <a:rPr lang="ko-KR" altLang="ko-KR" dirty="0"/>
              <a:t> </a:t>
            </a:r>
            <a:r>
              <a:rPr lang="ko-KR" altLang="ko-KR" dirty="0" err="1"/>
              <a:t>learning</a:t>
            </a:r>
            <a:r>
              <a:rPr lang="ko-KR" altLang="ko-KR" dirty="0"/>
              <a:t> </a:t>
            </a:r>
            <a:r>
              <a:rPr lang="ko-KR" altLang="ko-KR" dirty="0" err="1"/>
              <a:t>powerful</a:t>
            </a:r>
            <a:r>
              <a:rPr lang="ko-KR" altLang="ko-KR" dirty="0"/>
              <a:t>, and </a:t>
            </a:r>
            <a:r>
              <a:rPr lang="ko-KR" altLang="ko-KR" dirty="0" err="1"/>
              <a:t>residual</a:t>
            </a:r>
            <a:r>
              <a:rPr lang="ko-KR" altLang="ko-KR" dirty="0"/>
              <a:t> </a:t>
            </a:r>
            <a:r>
              <a:rPr lang="ko-KR" altLang="ko-KR" dirty="0" err="1"/>
              <a:t>connections</a:t>
            </a:r>
            <a:r>
              <a:rPr lang="ko-KR" altLang="ko-KR" dirty="0"/>
              <a:t> </a:t>
            </a:r>
            <a:r>
              <a:rPr lang="ko-KR" altLang="ko-KR" dirty="0" err="1"/>
              <a:t>are</a:t>
            </a:r>
            <a:r>
              <a:rPr lang="ko-KR" altLang="ko-KR" dirty="0"/>
              <a:t> </a:t>
            </a:r>
            <a:r>
              <a:rPr lang="ko-KR" altLang="ko-KR" dirty="0" err="1"/>
              <a:t>what</a:t>
            </a:r>
            <a:r>
              <a:rPr lang="ko-KR" altLang="ko-KR" dirty="0"/>
              <a:t> </a:t>
            </a:r>
            <a:r>
              <a:rPr lang="ko-KR" altLang="ko-KR" dirty="0" err="1"/>
              <a:t>made</a:t>
            </a:r>
            <a:r>
              <a:rPr lang="ko-KR" altLang="ko-KR" dirty="0"/>
              <a:t> </a:t>
            </a:r>
            <a:r>
              <a:rPr lang="ko-KR" altLang="ko-KR" dirty="0" err="1"/>
              <a:t>deeper</a:t>
            </a:r>
            <a:r>
              <a:rPr lang="ko-KR" altLang="ko-KR" dirty="0"/>
              <a:t> </a:t>
            </a:r>
            <a:r>
              <a:rPr lang="ko-KR" altLang="ko-KR" dirty="0" err="1"/>
              <a:t>networks</a:t>
            </a:r>
            <a:r>
              <a:rPr lang="ko-KR" altLang="ko-KR" dirty="0"/>
              <a:t> </a:t>
            </a:r>
            <a:r>
              <a:rPr lang="ko-KR" altLang="ko-KR" dirty="0" err="1"/>
              <a:t>trainable</a:t>
            </a:r>
            <a:r>
              <a:rPr lang="ko-KR" altLang="ko-KR" dirty="0"/>
              <a:t>. </a:t>
            </a:r>
            <a:r>
              <a:rPr lang="ko-KR" altLang="ko-KR" dirty="0" err="1"/>
              <a:t>Thank</a:t>
            </a:r>
            <a:r>
              <a:rPr lang="ko-KR" altLang="ko-KR" dirty="0"/>
              <a:t> </a:t>
            </a:r>
            <a:r>
              <a:rPr lang="ko-KR" altLang="ko-KR" dirty="0" err="1"/>
              <a:t>you</a:t>
            </a:r>
            <a:r>
              <a:rPr lang="ko-KR" altLang="ko-KR" dirty="0"/>
              <a:t>.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60">
            <a:off x="1176014" y="3195638"/>
            <a:ext cx="15935982" cy="0"/>
          </a:xfrm>
          <a:prstGeom prst="line">
            <a:avLst/>
          </a:prstGeom>
          <a:ln w="9525" cap="rnd">
            <a:solidFill>
              <a:srgbClr val="9CA3A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914400" y="3657600"/>
            <a:ext cx="16459200" cy="1155055"/>
            <a:chOff x="0" y="0"/>
            <a:chExt cx="21945600" cy="15400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45600" cy="1540074"/>
            </a:xfrm>
            <a:custGeom>
              <a:avLst/>
              <a:gdLst/>
              <a:ahLst/>
              <a:cxnLst/>
              <a:rect l="l" t="t" r="r" b="b"/>
              <a:pathLst>
                <a:path w="21945600" h="1540074">
                  <a:moveTo>
                    <a:pt x="0" y="0"/>
                  </a:moveTo>
                  <a:lnTo>
                    <a:pt x="21945600" y="0"/>
                  </a:lnTo>
                  <a:lnTo>
                    <a:pt x="21945600" y="1540074"/>
                  </a:lnTo>
                  <a:lnTo>
                    <a:pt x="0" y="15400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0157" b="-22515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945600" cy="15781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20"/>
                </a:lnSpc>
              </a:pPr>
              <a:r>
                <a:rPr lang="en-US" sz="5600" b="1" dirty="0">
                  <a:solidFill>
                    <a:srgbClr val="11111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Going Deeper: Why Depth Works in CNNs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4937760"/>
            <a:ext cx="16459200" cy="914400"/>
            <a:chOff x="0" y="0"/>
            <a:chExt cx="21945600" cy="121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30" b="-30073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194560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How three networks (AlexNet, VGG, ResNet) made it possible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16380">
            <a:off x="1150525" y="6203632"/>
            <a:ext cx="15986941" cy="0"/>
          </a:xfrm>
          <a:prstGeom prst="line">
            <a:avLst/>
          </a:prstGeom>
          <a:ln w="28575" cap="rnd">
            <a:solidFill>
              <a:srgbClr val="1A4F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0" name="Group 10"/>
          <p:cNvGrpSpPr/>
          <p:nvPr/>
        </p:nvGrpSpPr>
        <p:grpSpPr>
          <a:xfrm>
            <a:off x="914400" y="6492240"/>
            <a:ext cx="16459200" cy="731520"/>
            <a:chOff x="0" y="0"/>
            <a:chExt cx="21945600" cy="9753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975360"/>
            </a:xfrm>
            <a:custGeom>
              <a:avLst/>
              <a:gdLst/>
              <a:ahLst/>
              <a:cxnLst/>
              <a:rect l="l" t="t" r="r" b="b"/>
              <a:pathLst>
                <a:path w="21945600" h="97536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413" b="-38841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194560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Application No. [MT21021]   ·   Junhyeong Lee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" y="7223760"/>
            <a:ext cx="16459200" cy="548640"/>
            <a:chOff x="0" y="0"/>
            <a:chExt cx="21945600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DGIST Artificial Intelligence Major · M.S. Admission Interview · October 21, 2026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6916400" y="9627870"/>
            <a:ext cx="54864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059305"/>
            <a:ext cx="8023860" cy="3939104"/>
            <a:chOff x="0" y="0"/>
            <a:chExt cx="2113280" cy="10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13280" cy="1037460"/>
            </a:xfrm>
            <a:custGeom>
              <a:avLst/>
              <a:gdLst/>
              <a:ahLst/>
              <a:cxnLst/>
              <a:rect l="l" t="t" r="r" b="b"/>
              <a:pathLst>
                <a:path w="2113280" h="1037460">
                  <a:moveTo>
                    <a:pt x="16403" y="0"/>
                  </a:moveTo>
                  <a:lnTo>
                    <a:pt x="2096877" y="0"/>
                  </a:lnTo>
                  <a:cubicBezTo>
                    <a:pt x="2101228" y="0"/>
                    <a:pt x="2105400" y="1728"/>
                    <a:pt x="2108476" y="4804"/>
                  </a:cubicBezTo>
                  <a:cubicBezTo>
                    <a:pt x="2111552" y="7880"/>
                    <a:pt x="2113280" y="12052"/>
                    <a:pt x="2113280" y="16403"/>
                  </a:cubicBezTo>
                  <a:lnTo>
                    <a:pt x="2113280" y="1021057"/>
                  </a:lnTo>
                  <a:cubicBezTo>
                    <a:pt x="2113280" y="1030116"/>
                    <a:pt x="2105936" y="1037460"/>
                    <a:pt x="2096877" y="1037460"/>
                  </a:cubicBezTo>
                  <a:lnTo>
                    <a:pt x="16403" y="1037460"/>
                  </a:lnTo>
                  <a:cubicBezTo>
                    <a:pt x="12052" y="1037460"/>
                    <a:pt x="7880" y="1035731"/>
                    <a:pt x="4804" y="1032655"/>
                  </a:cubicBezTo>
                  <a:cubicBezTo>
                    <a:pt x="1728" y="1029579"/>
                    <a:pt x="0" y="1025407"/>
                    <a:pt x="0" y="1021057"/>
                  </a:cubicBezTo>
                  <a:lnTo>
                    <a:pt x="0" y="16403"/>
                  </a:lnTo>
                  <a:cubicBezTo>
                    <a:pt x="0" y="7344"/>
                    <a:pt x="7344" y="0"/>
                    <a:pt x="16403" y="0"/>
                  </a:cubicBezTo>
                  <a:close/>
                </a:path>
              </a:pathLst>
            </a:custGeom>
            <a:ln w="28575" cap="sq">
              <a:solidFill>
                <a:srgbClr val="2B4F9D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13280" cy="1056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70567" y="2221175"/>
            <a:ext cx="7863840" cy="512064"/>
            <a:chOff x="0" y="0"/>
            <a:chExt cx="10485120" cy="6827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485120" cy="682752"/>
            </a:xfrm>
            <a:custGeom>
              <a:avLst/>
              <a:gdLst/>
              <a:ahLst/>
              <a:cxnLst/>
              <a:rect l="l" t="t" r="r" b="b"/>
              <a:pathLst>
                <a:path w="10485120" h="682752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9234" b="-24923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048512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A4FA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filter slides over the image: one dot product per position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65860" y="2816735"/>
            <a:ext cx="5852160" cy="2696851"/>
            <a:chOff x="0" y="0"/>
            <a:chExt cx="7802880" cy="3595802"/>
          </a:xfrm>
        </p:grpSpPr>
        <p:sp>
          <p:nvSpPr>
            <p:cNvPr id="9" name="Freeform 9" descr="/tmp/claude-0/-home-claude/22184b4b-dde6-5633-8a1d-c15502e7dd9e/scratchpad/dgist/fig_conv.png"/>
            <p:cNvSpPr/>
            <p:nvPr/>
          </p:nvSpPr>
          <p:spPr>
            <a:xfrm>
              <a:off x="0" y="0"/>
              <a:ext cx="7802880" cy="3595751"/>
            </a:xfrm>
            <a:custGeom>
              <a:avLst/>
              <a:gdLst/>
              <a:ahLst/>
              <a:cxnLst/>
              <a:rect l="l" t="t" r="r" b="b"/>
              <a:pathLst>
                <a:path w="7802880" h="3595751">
                  <a:moveTo>
                    <a:pt x="0" y="0"/>
                  </a:moveTo>
                  <a:lnTo>
                    <a:pt x="7802880" y="0"/>
                  </a:lnTo>
                  <a:lnTo>
                    <a:pt x="7802880" y="3595751"/>
                  </a:lnTo>
                  <a:lnTo>
                    <a:pt x="0" y="3595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5" r="-65" b="-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109460" y="2886592"/>
            <a:ext cx="1828800" cy="548640"/>
            <a:chOff x="0" y="0"/>
            <a:chExt cx="243840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" cy="731520"/>
            </a:xfrm>
            <a:custGeom>
              <a:avLst/>
              <a:gdLst/>
              <a:ahLst/>
              <a:cxnLst/>
              <a:rect l="l" t="t" r="r" b="b"/>
              <a:pathLst>
                <a:path w="2438400" h="731520">
                  <a:moveTo>
                    <a:pt x="0" y="0"/>
                  </a:moveTo>
                  <a:lnTo>
                    <a:pt x="2438400" y="0"/>
                  </a:lnTo>
                  <a:lnTo>
                    <a:pt x="243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4384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dirty="0" err="1">
                  <a:solidFill>
                    <a:srgbClr val="1F29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wᵀx</a:t>
              </a:r>
              <a:r>
                <a:rPr lang="en-US" sz="2400" b="1" dirty="0">
                  <a:solidFill>
                    <a:srgbClr val="1F29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+ b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109460" y="3768607"/>
            <a:ext cx="1606846" cy="1097280"/>
            <a:chOff x="0" y="0"/>
            <a:chExt cx="2142461" cy="14630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42461" cy="1463040"/>
            </a:xfrm>
            <a:custGeom>
              <a:avLst/>
              <a:gdLst/>
              <a:ahLst/>
              <a:cxnLst/>
              <a:rect l="l" t="t" r="r" b="b"/>
              <a:pathLst>
                <a:path w="2142461" h="1463040">
                  <a:moveTo>
                    <a:pt x="0" y="0"/>
                  </a:moveTo>
                  <a:lnTo>
                    <a:pt x="2142461" y="0"/>
                  </a:lnTo>
                  <a:lnTo>
                    <a:pt x="21424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018" r="-5021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142461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40"/>
                </a:lnSpc>
              </a:pPr>
              <a:r>
                <a:rPr lang="en-US" sz="17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large where the patch looks like the filter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235440" y="2059305"/>
            <a:ext cx="8023860" cy="3961937"/>
            <a:chOff x="0" y="0"/>
            <a:chExt cx="2113280" cy="10434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13280" cy="1043473"/>
            </a:xfrm>
            <a:custGeom>
              <a:avLst/>
              <a:gdLst/>
              <a:ahLst/>
              <a:cxnLst/>
              <a:rect l="l" t="t" r="r" b="b"/>
              <a:pathLst>
                <a:path w="2113280" h="1043473">
                  <a:moveTo>
                    <a:pt x="16403" y="0"/>
                  </a:moveTo>
                  <a:lnTo>
                    <a:pt x="2096877" y="0"/>
                  </a:lnTo>
                  <a:cubicBezTo>
                    <a:pt x="2101228" y="0"/>
                    <a:pt x="2105400" y="1728"/>
                    <a:pt x="2108476" y="4804"/>
                  </a:cubicBezTo>
                  <a:cubicBezTo>
                    <a:pt x="2111552" y="7880"/>
                    <a:pt x="2113280" y="12052"/>
                    <a:pt x="2113280" y="16403"/>
                  </a:cubicBezTo>
                  <a:lnTo>
                    <a:pt x="2113280" y="1027070"/>
                  </a:lnTo>
                  <a:cubicBezTo>
                    <a:pt x="2113280" y="1036129"/>
                    <a:pt x="2105936" y="1043473"/>
                    <a:pt x="2096877" y="1043473"/>
                  </a:cubicBezTo>
                  <a:lnTo>
                    <a:pt x="16403" y="1043473"/>
                  </a:lnTo>
                  <a:cubicBezTo>
                    <a:pt x="7344" y="1043473"/>
                    <a:pt x="0" y="1036129"/>
                    <a:pt x="0" y="1027070"/>
                  </a:cubicBezTo>
                  <a:lnTo>
                    <a:pt x="0" y="16403"/>
                  </a:lnTo>
                  <a:cubicBezTo>
                    <a:pt x="0" y="7344"/>
                    <a:pt x="7344" y="0"/>
                    <a:pt x="16403" y="0"/>
                  </a:cubicBezTo>
                  <a:close/>
                </a:path>
              </a:pathLst>
            </a:custGeom>
            <a:ln w="28575" cap="sq">
              <a:solidFill>
                <a:srgbClr val="2B4F9D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2113280" cy="106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39988" y="2221175"/>
            <a:ext cx="7132320" cy="512064"/>
            <a:chOff x="0" y="0"/>
            <a:chExt cx="9509760" cy="68275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509760" cy="682752"/>
            </a:xfrm>
            <a:custGeom>
              <a:avLst/>
              <a:gdLst/>
              <a:ahLst/>
              <a:cxnLst/>
              <a:rect l="l" t="t" r="r" b="b"/>
              <a:pathLst>
                <a:path w="9509760" h="682752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1398" b="-22139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9509760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1A4FA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not a fully-connected layer?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539988" y="2790389"/>
            <a:ext cx="765073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69" lvl="1" indent="-229235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224×224×3 image → 150k inputs → 150M weights for 1,000 units</a:t>
            </a:r>
          </a:p>
          <a:p>
            <a:pPr marL="458469" lvl="1" indent="-229235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Every pixel connects to every unit → position is ignored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966960" y="3644458"/>
            <a:ext cx="1807216" cy="1807216"/>
            <a:chOff x="0" y="0"/>
            <a:chExt cx="2072640" cy="2072640"/>
          </a:xfrm>
        </p:grpSpPr>
        <p:sp>
          <p:nvSpPr>
            <p:cNvPr id="24" name="Freeform 24" descr="/tmp/claude-0/-home-claude/22184b4b-dde6-5633-8a1d-c15502e7dd9e/scratchpad/dgist/fig_mlp.png"/>
            <p:cNvSpPr/>
            <p:nvPr/>
          </p:nvSpPr>
          <p:spPr>
            <a:xfrm>
              <a:off x="0" y="0"/>
              <a:ext cx="2072640" cy="2072640"/>
            </a:xfrm>
            <a:custGeom>
              <a:avLst/>
              <a:gdLst/>
              <a:ahLst/>
              <a:cxnLst/>
              <a:rect l="l" t="t" r="r" b="b"/>
              <a:pathLst>
                <a:path w="2072640" h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4" b="-6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841480" y="4025210"/>
            <a:ext cx="2194560" cy="1280160"/>
            <a:chOff x="0" y="0"/>
            <a:chExt cx="2926080" cy="170688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926080" cy="1706880"/>
            </a:xfrm>
            <a:custGeom>
              <a:avLst/>
              <a:gdLst/>
              <a:ahLst/>
              <a:cxnLst/>
              <a:rect l="l" t="t" r="r" b="b"/>
              <a:pathLst>
                <a:path w="2926080" h="1706880">
                  <a:moveTo>
                    <a:pt x="0" y="0"/>
                  </a:moveTo>
                  <a:lnTo>
                    <a:pt x="2926080" y="0"/>
                  </a:lnTo>
                  <a:lnTo>
                    <a:pt x="29260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292608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FC learns: 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blurry whole-image templates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746228" y="3644458"/>
            <a:ext cx="1807216" cy="1807216"/>
            <a:chOff x="0" y="0"/>
            <a:chExt cx="2072640" cy="2072640"/>
          </a:xfrm>
        </p:grpSpPr>
        <p:sp>
          <p:nvSpPr>
            <p:cNvPr id="29" name="Freeform 29" descr="/tmp/claude-0/-home-claude/22184b4b-dde6-5633-8a1d-c15502e7dd9e/scratchpad/dgist/fig_alex.png"/>
            <p:cNvSpPr/>
            <p:nvPr/>
          </p:nvSpPr>
          <p:spPr>
            <a:xfrm>
              <a:off x="0" y="0"/>
              <a:ext cx="2072640" cy="2072640"/>
            </a:xfrm>
            <a:custGeom>
              <a:avLst/>
              <a:gdLst/>
              <a:ahLst/>
              <a:cxnLst/>
              <a:rect l="l" t="t" r="r" b="b"/>
              <a:pathLst>
                <a:path w="2072640" h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268" b="-126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727675" y="4025210"/>
            <a:ext cx="1371600" cy="1280160"/>
            <a:chOff x="0" y="0"/>
            <a:chExt cx="1828800" cy="17068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828800" cy="1706880"/>
            </a:xfrm>
            <a:custGeom>
              <a:avLst/>
              <a:gdLst/>
              <a:ahLst/>
              <a:cxnLst/>
              <a:rect l="l" t="t" r="r" b="b"/>
              <a:pathLst>
                <a:path w="1828800" h="1706880">
                  <a:moveTo>
                    <a:pt x="0" y="0"/>
                  </a:moveTo>
                  <a:lnTo>
                    <a:pt x="1828800" y="0"/>
                  </a:lnTo>
                  <a:lnTo>
                    <a:pt x="18288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750" r="-6975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182880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Conv learns: local edges &amp; colors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1698" y="6855659"/>
            <a:ext cx="4036057" cy="1758231"/>
            <a:chOff x="0" y="0"/>
            <a:chExt cx="5381409" cy="234430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381371" cy="2344278"/>
            </a:xfrm>
            <a:custGeom>
              <a:avLst/>
              <a:gdLst/>
              <a:ahLst/>
              <a:cxnLst/>
              <a:rect l="l" t="t" r="r" b="b"/>
              <a:pathLst>
                <a:path w="5381371" h="2344278">
                  <a:moveTo>
                    <a:pt x="0" y="156299"/>
                  </a:moveTo>
                  <a:cubicBezTo>
                    <a:pt x="0" y="70006"/>
                    <a:pt x="87884" y="0"/>
                    <a:pt x="196215" y="0"/>
                  </a:cubicBezTo>
                  <a:lnTo>
                    <a:pt x="5185156" y="0"/>
                  </a:lnTo>
                  <a:cubicBezTo>
                    <a:pt x="5293487" y="0"/>
                    <a:pt x="5381371" y="70006"/>
                    <a:pt x="5381371" y="156299"/>
                  </a:cubicBezTo>
                  <a:lnTo>
                    <a:pt x="5381371" y="2187980"/>
                  </a:lnTo>
                  <a:cubicBezTo>
                    <a:pt x="5381371" y="2274273"/>
                    <a:pt x="5293487" y="2344278"/>
                    <a:pt x="5185156" y="2344278"/>
                  </a:cubicBezTo>
                  <a:lnTo>
                    <a:pt x="196215" y="2344278"/>
                  </a:lnTo>
                  <a:cubicBezTo>
                    <a:pt x="87884" y="2344278"/>
                    <a:pt x="0" y="2274374"/>
                    <a:pt x="0" y="2187980"/>
                  </a:cubicBezTo>
                  <a:close/>
                </a:path>
              </a:pathLst>
            </a:custGeom>
            <a:solidFill>
              <a:srgbClr val="F3F5F9"/>
            </a:solidFill>
            <a:ln w="12700" cap="sq">
              <a:solidFill>
                <a:srgbClr val="F3F5F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27508" y="6971740"/>
            <a:ext cx="3584448" cy="512064"/>
            <a:chOff x="0" y="0"/>
            <a:chExt cx="4779264" cy="68275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779264" cy="682752"/>
            </a:xfrm>
            <a:custGeom>
              <a:avLst/>
              <a:gdLst/>
              <a:ahLst/>
              <a:cxnLst/>
              <a:rect l="l" t="t" r="r" b="b"/>
              <a:pathLst>
                <a:path w="4779264" h="682752">
                  <a:moveTo>
                    <a:pt x="0" y="0"/>
                  </a:moveTo>
                  <a:lnTo>
                    <a:pt x="4779264" y="0"/>
                  </a:lnTo>
                  <a:lnTo>
                    <a:pt x="477926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4779264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1A4FA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① Local connectivity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27508" y="7502092"/>
            <a:ext cx="3584448" cy="731520"/>
            <a:chOff x="0" y="0"/>
            <a:chExt cx="4779264" cy="97536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779264" cy="975360"/>
            </a:xfrm>
            <a:custGeom>
              <a:avLst/>
              <a:gdLst/>
              <a:ahLst/>
              <a:cxnLst/>
              <a:rect l="l" t="t" r="r" b="b"/>
              <a:pathLst>
                <a:path w="4779264" h="975360">
                  <a:moveTo>
                    <a:pt x="0" y="0"/>
                  </a:moveTo>
                  <a:lnTo>
                    <a:pt x="4779264" y="0"/>
                  </a:lnTo>
                  <a:lnTo>
                    <a:pt x="477926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r="-2368" b="-9999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4779264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Each unit sees only a small patch → position is kept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107938" y="6855659"/>
            <a:ext cx="4036057" cy="1758231"/>
            <a:chOff x="0" y="0"/>
            <a:chExt cx="5381409" cy="234430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381371" cy="2344278"/>
            </a:xfrm>
            <a:custGeom>
              <a:avLst/>
              <a:gdLst/>
              <a:ahLst/>
              <a:cxnLst/>
              <a:rect l="l" t="t" r="r" b="b"/>
              <a:pathLst>
                <a:path w="5381371" h="2344278">
                  <a:moveTo>
                    <a:pt x="0" y="156299"/>
                  </a:moveTo>
                  <a:cubicBezTo>
                    <a:pt x="0" y="70006"/>
                    <a:pt x="87884" y="0"/>
                    <a:pt x="196215" y="0"/>
                  </a:cubicBezTo>
                  <a:lnTo>
                    <a:pt x="5185156" y="0"/>
                  </a:lnTo>
                  <a:cubicBezTo>
                    <a:pt x="5293487" y="0"/>
                    <a:pt x="5381371" y="70006"/>
                    <a:pt x="5381371" y="156299"/>
                  </a:cubicBezTo>
                  <a:lnTo>
                    <a:pt x="5381371" y="2187980"/>
                  </a:lnTo>
                  <a:cubicBezTo>
                    <a:pt x="5381371" y="2274273"/>
                    <a:pt x="5293487" y="2344278"/>
                    <a:pt x="5185156" y="2344278"/>
                  </a:cubicBezTo>
                  <a:lnTo>
                    <a:pt x="196215" y="2344278"/>
                  </a:lnTo>
                  <a:cubicBezTo>
                    <a:pt x="87884" y="2344278"/>
                    <a:pt x="0" y="2274374"/>
                    <a:pt x="0" y="2187980"/>
                  </a:cubicBezTo>
                  <a:close/>
                </a:path>
              </a:pathLst>
            </a:custGeom>
            <a:solidFill>
              <a:srgbClr val="F3F5F9"/>
            </a:solidFill>
            <a:ln w="12700" cap="sq">
              <a:solidFill>
                <a:srgbClr val="F3F5F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3748" y="6971740"/>
            <a:ext cx="3584448" cy="512064"/>
            <a:chOff x="0" y="0"/>
            <a:chExt cx="4779264" cy="68275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779264" cy="682752"/>
            </a:xfrm>
            <a:custGeom>
              <a:avLst/>
              <a:gdLst/>
              <a:ahLst/>
              <a:cxnLst/>
              <a:rect l="l" t="t" r="r" b="b"/>
              <a:pathLst>
                <a:path w="4779264" h="682752">
                  <a:moveTo>
                    <a:pt x="0" y="0"/>
                  </a:moveTo>
                  <a:lnTo>
                    <a:pt x="4779264" y="0"/>
                  </a:lnTo>
                  <a:lnTo>
                    <a:pt x="477926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4779264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1A4FA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② Weight sharing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329680" y="7525584"/>
            <a:ext cx="3584448" cy="684536"/>
            <a:chOff x="0" y="0"/>
            <a:chExt cx="4779264" cy="91271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779264" cy="912714"/>
            </a:xfrm>
            <a:custGeom>
              <a:avLst/>
              <a:gdLst/>
              <a:ahLst/>
              <a:cxnLst/>
              <a:rect l="l" t="t" r="r" b="b"/>
              <a:pathLst>
                <a:path w="4779264" h="912714">
                  <a:moveTo>
                    <a:pt x="0" y="0"/>
                  </a:moveTo>
                  <a:lnTo>
                    <a:pt x="4779264" y="0"/>
                  </a:lnTo>
                  <a:lnTo>
                    <a:pt x="4779264" y="912714"/>
                  </a:lnTo>
                  <a:lnTo>
                    <a:pt x="0" y="912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r="-2368" b="-11372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4779264" cy="9222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Same filter everywhere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→ few weights, found anywhere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314178" y="6855659"/>
            <a:ext cx="4036057" cy="1758231"/>
            <a:chOff x="0" y="0"/>
            <a:chExt cx="5381409" cy="234430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381371" cy="2344278"/>
            </a:xfrm>
            <a:custGeom>
              <a:avLst/>
              <a:gdLst/>
              <a:ahLst/>
              <a:cxnLst/>
              <a:rect l="l" t="t" r="r" b="b"/>
              <a:pathLst>
                <a:path w="5381371" h="2344278">
                  <a:moveTo>
                    <a:pt x="0" y="156299"/>
                  </a:moveTo>
                  <a:cubicBezTo>
                    <a:pt x="0" y="70006"/>
                    <a:pt x="87884" y="0"/>
                    <a:pt x="196215" y="0"/>
                  </a:cubicBezTo>
                  <a:lnTo>
                    <a:pt x="5185156" y="0"/>
                  </a:lnTo>
                  <a:cubicBezTo>
                    <a:pt x="5293487" y="0"/>
                    <a:pt x="5381371" y="70006"/>
                    <a:pt x="5381371" y="156299"/>
                  </a:cubicBezTo>
                  <a:lnTo>
                    <a:pt x="5381371" y="2187980"/>
                  </a:lnTo>
                  <a:cubicBezTo>
                    <a:pt x="5381371" y="2274273"/>
                    <a:pt x="5293487" y="2344278"/>
                    <a:pt x="5185156" y="2344278"/>
                  </a:cubicBezTo>
                  <a:lnTo>
                    <a:pt x="196215" y="2344278"/>
                  </a:lnTo>
                  <a:cubicBezTo>
                    <a:pt x="87884" y="2344278"/>
                    <a:pt x="0" y="2274374"/>
                    <a:pt x="0" y="2187980"/>
                  </a:cubicBezTo>
                  <a:close/>
                </a:path>
              </a:pathLst>
            </a:custGeom>
            <a:solidFill>
              <a:srgbClr val="F3F5F9"/>
            </a:solidFill>
            <a:ln w="12700" cap="sq">
              <a:solidFill>
                <a:srgbClr val="F3F5F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539988" y="6971740"/>
            <a:ext cx="3584448" cy="512064"/>
            <a:chOff x="0" y="0"/>
            <a:chExt cx="4779264" cy="68275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779264" cy="682752"/>
            </a:xfrm>
            <a:custGeom>
              <a:avLst/>
              <a:gdLst/>
              <a:ahLst/>
              <a:cxnLst/>
              <a:rect l="l" t="t" r="r" b="b"/>
              <a:pathLst>
                <a:path w="4779264" h="682752">
                  <a:moveTo>
                    <a:pt x="0" y="0"/>
                  </a:moveTo>
                  <a:lnTo>
                    <a:pt x="4779264" y="0"/>
                  </a:lnTo>
                  <a:lnTo>
                    <a:pt x="477926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4779264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1A4FA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③ Stacking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539988" y="7550479"/>
            <a:ext cx="3584448" cy="390023"/>
            <a:chOff x="0" y="0"/>
            <a:chExt cx="4779264" cy="52003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779264" cy="520030"/>
            </a:xfrm>
            <a:custGeom>
              <a:avLst/>
              <a:gdLst/>
              <a:ahLst/>
              <a:cxnLst/>
              <a:rect l="l" t="t" r="r" b="b"/>
              <a:pathLst>
                <a:path w="4779264" h="520030">
                  <a:moveTo>
                    <a:pt x="0" y="0"/>
                  </a:moveTo>
                  <a:lnTo>
                    <a:pt x="4779264" y="0"/>
                  </a:lnTo>
                  <a:lnTo>
                    <a:pt x="4779264" y="520030"/>
                  </a:lnTo>
                  <a:lnTo>
                    <a:pt x="0" y="520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r="-2368" b="-27511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4779264" cy="5295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Edges → parts → objects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3520418" y="6855659"/>
            <a:ext cx="3853177" cy="1758231"/>
            <a:chOff x="0" y="0"/>
            <a:chExt cx="5137569" cy="2344309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137531" cy="2344278"/>
            </a:xfrm>
            <a:custGeom>
              <a:avLst/>
              <a:gdLst/>
              <a:ahLst/>
              <a:cxnLst/>
              <a:rect l="l" t="t" r="r" b="b"/>
              <a:pathLst>
                <a:path w="5137531" h="2344278">
                  <a:moveTo>
                    <a:pt x="0" y="156299"/>
                  </a:moveTo>
                  <a:cubicBezTo>
                    <a:pt x="0" y="70006"/>
                    <a:pt x="87884" y="0"/>
                    <a:pt x="196215" y="0"/>
                  </a:cubicBezTo>
                  <a:lnTo>
                    <a:pt x="4941316" y="0"/>
                  </a:lnTo>
                  <a:cubicBezTo>
                    <a:pt x="5049647" y="0"/>
                    <a:pt x="5137531" y="70006"/>
                    <a:pt x="5137531" y="156299"/>
                  </a:cubicBezTo>
                  <a:lnTo>
                    <a:pt x="5137531" y="2187980"/>
                  </a:lnTo>
                  <a:cubicBezTo>
                    <a:pt x="5137531" y="2274273"/>
                    <a:pt x="5049647" y="2344278"/>
                    <a:pt x="4941316" y="2344278"/>
                  </a:cubicBezTo>
                  <a:lnTo>
                    <a:pt x="196215" y="2344278"/>
                  </a:lnTo>
                  <a:cubicBezTo>
                    <a:pt x="87884" y="2344278"/>
                    <a:pt x="0" y="2274374"/>
                    <a:pt x="0" y="2187980"/>
                  </a:cubicBezTo>
                  <a:close/>
                </a:path>
              </a:pathLst>
            </a:custGeom>
            <a:solidFill>
              <a:srgbClr val="F3F5F9"/>
            </a:solidFill>
            <a:ln w="12700" cap="sq">
              <a:solidFill>
                <a:srgbClr val="F3F5F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3746228" y="6971740"/>
            <a:ext cx="3401568" cy="512064"/>
            <a:chOff x="0" y="0"/>
            <a:chExt cx="4535424" cy="68275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535424" cy="682752"/>
            </a:xfrm>
            <a:custGeom>
              <a:avLst/>
              <a:gdLst/>
              <a:ahLst/>
              <a:cxnLst/>
              <a:rect l="l" t="t" r="r" b="b"/>
              <a:pathLst>
                <a:path w="4535424" h="682752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436" b="-7943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4535424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1A4FA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④ Learned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746228" y="7502092"/>
            <a:ext cx="3401568" cy="731520"/>
            <a:chOff x="0" y="0"/>
            <a:chExt cx="4535424" cy="97536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535424" cy="975360"/>
            </a:xfrm>
            <a:custGeom>
              <a:avLst/>
              <a:gdLst/>
              <a:ahLst/>
              <a:cxnLst/>
              <a:rect l="l" t="t" r="r" b="b"/>
              <a:pathLst>
                <a:path w="4535424" h="975360">
                  <a:moveTo>
                    <a:pt x="0" y="0"/>
                  </a:moveTo>
                  <a:lnTo>
                    <a:pt x="4535424" y="0"/>
                  </a:lnTo>
                  <a:lnTo>
                    <a:pt x="453542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84" r="-5184" b="-9999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9525"/>
              <a:ext cx="4535424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Filter values are weights,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trained by backpropagation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01698" y="8872214"/>
            <a:ext cx="16484603" cy="648723"/>
            <a:chOff x="0" y="0"/>
            <a:chExt cx="21979471" cy="86496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1979510" cy="865002"/>
            </a:xfrm>
            <a:custGeom>
              <a:avLst/>
              <a:gdLst/>
              <a:ahLst/>
              <a:cxnLst/>
              <a:rect l="l" t="t" r="r" b="b"/>
              <a:pathLst>
                <a:path w="21979510" h="865002">
                  <a:moveTo>
                    <a:pt x="0" y="125830"/>
                  </a:moveTo>
                  <a:cubicBezTo>
                    <a:pt x="0" y="56324"/>
                    <a:pt x="89535" y="0"/>
                    <a:pt x="200025" y="0"/>
                  </a:cubicBezTo>
                  <a:lnTo>
                    <a:pt x="21779485" y="0"/>
                  </a:lnTo>
                  <a:cubicBezTo>
                    <a:pt x="21889974" y="0"/>
                    <a:pt x="21979510" y="56324"/>
                    <a:pt x="21979510" y="125830"/>
                  </a:cubicBezTo>
                  <a:lnTo>
                    <a:pt x="21979510" y="739159"/>
                  </a:lnTo>
                  <a:cubicBezTo>
                    <a:pt x="21979510" y="808664"/>
                    <a:pt x="21889974" y="865002"/>
                    <a:pt x="21779485" y="865002"/>
                  </a:cubicBezTo>
                  <a:lnTo>
                    <a:pt x="200025" y="865002"/>
                  </a:lnTo>
                  <a:cubicBezTo>
                    <a:pt x="89535" y="865002"/>
                    <a:pt x="0" y="808664"/>
                    <a:pt x="0" y="739159"/>
                  </a:cubicBezTo>
                  <a:close/>
                </a:path>
              </a:pathLst>
            </a:custGeom>
            <a:solidFill>
              <a:srgbClr val="1A4FA0"/>
            </a:solidFill>
            <a:ln w="25400" cap="sq">
              <a:solidFill>
                <a:srgbClr val="1A4FA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88715" y="8884910"/>
            <a:ext cx="15910560" cy="636026"/>
            <a:chOff x="0" y="0"/>
            <a:chExt cx="21214080" cy="848035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1214080" cy="848035"/>
            </a:xfrm>
            <a:custGeom>
              <a:avLst/>
              <a:gdLst/>
              <a:ahLst/>
              <a:cxnLst/>
              <a:rect l="l" t="t" r="r" b="b"/>
              <a:pathLst>
                <a:path w="21214080" h="848035">
                  <a:moveTo>
                    <a:pt x="0" y="0"/>
                  </a:moveTo>
                  <a:lnTo>
                    <a:pt x="21214080" y="0"/>
                  </a:lnTo>
                  <a:lnTo>
                    <a:pt x="21214080" y="848035"/>
                  </a:lnTo>
                  <a:lnTo>
                    <a:pt x="0" y="8480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8357" b="-46650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9525"/>
              <a:ext cx="21214080" cy="857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Deeper layers see more of the image and build richer features. → how deep can we go?</a:t>
              </a: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6916400" y="9627870"/>
            <a:ext cx="54864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2/5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480060" y="384048"/>
            <a:ext cx="1371600" cy="109728"/>
            <a:chOff x="0" y="0"/>
            <a:chExt cx="1828800" cy="14630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828800" cy="146304"/>
            </a:xfrm>
            <a:custGeom>
              <a:avLst/>
              <a:gdLst/>
              <a:ahLst/>
              <a:cxnLst/>
              <a:rect l="l" t="t" r="r" b="b"/>
              <a:pathLst>
                <a:path w="1828800" h="146304">
                  <a:moveTo>
                    <a:pt x="0" y="0"/>
                  </a:moveTo>
                  <a:lnTo>
                    <a:pt x="1828800" y="0"/>
                  </a:lnTo>
                  <a:lnTo>
                    <a:pt x="18288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155A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480060" y="562058"/>
            <a:ext cx="13098780" cy="754380"/>
            <a:chOff x="0" y="0"/>
            <a:chExt cx="17465040" cy="100584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7465039" cy="1005840"/>
            </a:xfrm>
            <a:custGeom>
              <a:avLst/>
              <a:gdLst/>
              <a:ahLst/>
              <a:cxnLst/>
              <a:rect l="l" t="t" r="r" b="b"/>
              <a:pathLst>
                <a:path w="17465039" h="1005840">
                  <a:moveTo>
                    <a:pt x="0" y="0"/>
                  </a:moveTo>
                  <a:lnTo>
                    <a:pt x="17465039" y="0"/>
                  </a:lnTo>
                  <a:lnTo>
                    <a:pt x="174650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414" r="-20418" b="-3574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28575"/>
              <a:ext cx="17465040" cy="10344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22222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core idea: convolution = a sliding dot product</a:t>
              </a:r>
            </a:p>
          </p:txBody>
        </p:sp>
      </p:grpSp>
      <p:sp>
        <p:nvSpPr>
          <p:cNvPr id="76" name="AutoShape 76"/>
          <p:cNvSpPr/>
          <p:nvPr/>
        </p:nvSpPr>
        <p:spPr>
          <a:xfrm rot="3780">
            <a:off x="470525" y="1394270"/>
            <a:ext cx="17369800" cy="0"/>
          </a:xfrm>
          <a:prstGeom prst="line">
            <a:avLst/>
          </a:prstGeom>
          <a:ln w="9525" cap="rnd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Box 77"/>
          <p:cNvSpPr txBox="1"/>
          <p:nvPr/>
        </p:nvSpPr>
        <p:spPr>
          <a:xfrm>
            <a:off x="901698" y="6379409"/>
            <a:ext cx="453181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2155A4"/>
                </a:solidFill>
                <a:latin typeface="Arial Bold"/>
                <a:ea typeface="Arial Bold"/>
                <a:cs typeface="Arial Bold"/>
                <a:sym typeface="Arial Bold"/>
              </a:rPr>
              <a:t>Why does convolution fit images?</a:t>
            </a:r>
          </a:p>
        </p:txBody>
      </p:sp>
      <p:sp>
        <p:nvSpPr>
          <p:cNvPr id="78" name="AutoShape 78"/>
          <p:cNvSpPr/>
          <p:nvPr/>
        </p:nvSpPr>
        <p:spPr>
          <a:xfrm>
            <a:off x="5544982" y="6565147"/>
            <a:ext cx="11714318" cy="0"/>
          </a:xfrm>
          <a:prstGeom prst="line">
            <a:avLst/>
          </a:prstGeom>
          <a:ln w="9525" cap="rnd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55673" y="1480019"/>
            <a:ext cx="11176655" cy="2235121"/>
            <a:chOff x="0" y="0"/>
            <a:chExt cx="2943646" cy="5886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43646" cy="588674"/>
            </a:xfrm>
            <a:custGeom>
              <a:avLst/>
              <a:gdLst/>
              <a:ahLst/>
              <a:cxnLst/>
              <a:rect l="l" t="t" r="r" b="b"/>
              <a:pathLst>
                <a:path w="2943646" h="588674">
                  <a:moveTo>
                    <a:pt x="11776" y="0"/>
                  </a:moveTo>
                  <a:lnTo>
                    <a:pt x="2931870" y="0"/>
                  </a:lnTo>
                  <a:cubicBezTo>
                    <a:pt x="2934993" y="0"/>
                    <a:pt x="2937988" y="1241"/>
                    <a:pt x="2940197" y="3449"/>
                  </a:cubicBezTo>
                  <a:cubicBezTo>
                    <a:pt x="2942405" y="5657"/>
                    <a:pt x="2943646" y="8653"/>
                    <a:pt x="2943646" y="11776"/>
                  </a:cubicBezTo>
                  <a:lnTo>
                    <a:pt x="2943646" y="576898"/>
                  </a:lnTo>
                  <a:cubicBezTo>
                    <a:pt x="2943646" y="583402"/>
                    <a:pt x="2938374" y="588674"/>
                    <a:pt x="2931870" y="588674"/>
                  </a:cubicBezTo>
                  <a:lnTo>
                    <a:pt x="11776" y="588674"/>
                  </a:lnTo>
                  <a:cubicBezTo>
                    <a:pt x="8653" y="588674"/>
                    <a:pt x="5657" y="587433"/>
                    <a:pt x="3449" y="585225"/>
                  </a:cubicBezTo>
                  <a:cubicBezTo>
                    <a:pt x="1241" y="583016"/>
                    <a:pt x="0" y="580021"/>
                    <a:pt x="0" y="576898"/>
                  </a:cubicBezTo>
                  <a:lnTo>
                    <a:pt x="0" y="11776"/>
                  </a:lnTo>
                  <a:cubicBezTo>
                    <a:pt x="0" y="8653"/>
                    <a:pt x="1241" y="5657"/>
                    <a:pt x="3449" y="3449"/>
                  </a:cubicBezTo>
                  <a:cubicBezTo>
                    <a:pt x="5657" y="1241"/>
                    <a:pt x="8653" y="0"/>
                    <a:pt x="11776" y="0"/>
                  </a:cubicBezTo>
                  <a:close/>
                </a:path>
              </a:pathLst>
            </a:custGeom>
            <a:ln w="28575" cap="sq">
              <a:solidFill>
                <a:srgbClr val="2B4F9D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943646" cy="6077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702986" y="1617295"/>
            <a:ext cx="1833959" cy="621841"/>
            <a:chOff x="0" y="0"/>
            <a:chExt cx="2445278" cy="8291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5278" cy="829121"/>
            </a:xfrm>
            <a:custGeom>
              <a:avLst/>
              <a:gdLst/>
              <a:ahLst/>
              <a:cxnLst/>
              <a:rect l="l" t="t" r="r" b="b"/>
              <a:pathLst>
                <a:path w="2445278" h="829121">
                  <a:moveTo>
                    <a:pt x="0" y="0"/>
                  </a:moveTo>
                  <a:lnTo>
                    <a:pt x="2445278" y="0"/>
                  </a:lnTo>
                  <a:lnTo>
                    <a:pt x="2445278" y="829121"/>
                  </a:lnTo>
                  <a:lnTo>
                    <a:pt x="0" y="8291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93" r="-69521" b="-7094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445278" cy="8481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F29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LeNet-5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702986" y="2681053"/>
            <a:ext cx="5108189" cy="719415"/>
            <a:chOff x="0" y="0"/>
            <a:chExt cx="6810918" cy="9592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10918" cy="959220"/>
            </a:xfrm>
            <a:custGeom>
              <a:avLst/>
              <a:gdLst/>
              <a:ahLst/>
              <a:cxnLst/>
              <a:rect l="l" t="t" r="r" b="b"/>
              <a:pathLst>
                <a:path w="6810918" h="959220">
                  <a:moveTo>
                    <a:pt x="0" y="0"/>
                  </a:moveTo>
                  <a:lnTo>
                    <a:pt x="6810918" y="0"/>
                  </a:lnTo>
                  <a:lnTo>
                    <a:pt x="6810918" y="959220"/>
                  </a:lnTo>
                  <a:lnTo>
                    <a:pt x="0" y="9592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3174" r="-150609" b="-31027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6810918" cy="96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31801" lvl="1" indent="-2159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conv + pooling + FC</a:t>
              </a:r>
            </a:p>
            <a:p>
              <a:pPr marL="431801" lvl="1" indent="-215900" algn="l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Too little data and compute to go deeper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3866858"/>
            <a:ext cx="7934672" cy="4840135"/>
            <a:chOff x="0" y="0"/>
            <a:chExt cx="2089790" cy="12747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89790" cy="1274768"/>
            </a:xfrm>
            <a:custGeom>
              <a:avLst/>
              <a:gdLst/>
              <a:ahLst/>
              <a:cxnLst/>
              <a:rect l="l" t="t" r="r" b="b"/>
              <a:pathLst>
                <a:path w="2089790" h="1274768">
                  <a:moveTo>
                    <a:pt x="16587" y="0"/>
                  </a:moveTo>
                  <a:lnTo>
                    <a:pt x="2073203" y="0"/>
                  </a:lnTo>
                  <a:cubicBezTo>
                    <a:pt x="2082364" y="0"/>
                    <a:pt x="2089790" y="7426"/>
                    <a:pt x="2089790" y="16587"/>
                  </a:cubicBezTo>
                  <a:lnTo>
                    <a:pt x="2089790" y="1258181"/>
                  </a:lnTo>
                  <a:cubicBezTo>
                    <a:pt x="2089790" y="1267342"/>
                    <a:pt x="2082364" y="1274768"/>
                    <a:pt x="2073203" y="1274768"/>
                  </a:cubicBezTo>
                  <a:lnTo>
                    <a:pt x="16587" y="1274768"/>
                  </a:lnTo>
                  <a:cubicBezTo>
                    <a:pt x="7426" y="1274768"/>
                    <a:pt x="0" y="1267342"/>
                    <a:pt x="0" y="1258181"/>
                  </a:cubicBezTo>
                  <a:lnTo>
                    <a:pt x="0" y="16587"/>
                  </a:lnTo>
                  <a:cubicBezTo>
                    <a:pt x="0" y="7426"/>
                    <a:pt x="7426" y="0"/>
                    <a:pt x="16587" y="0"/>
                  </a:cubicBezTo>
                  <a:close/>
                </a:path>
              </a:pathLst>
            </a:custGeom>
            <a:ln w="28575" cap="sq">
              <a:solidFill>
                <a:srgbClr val="2B4F9D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089790" cy="129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82372" y="3842385"/>
            <a:ext cx="4572000" cy="640080"/>
            <a:chOff x="0" y="0"/>
            <a:chExt cx="6096000" cy="853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96000" cy="853440"/>
            </a:xfrm>
            <a:custGeom>
              <a:avLst/>
              <a:gdLst/>
              <a:ahLst/>
              <a:cxnLst/>
              <a:rect l="l" t="t" r="r" b="b"/>
              <a:pathLst>
                <a:path w="6096000" h="85344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6096000" cy="872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F29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AlexNet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84352" y="3920880"/>
            <a:ext cx="1554480" cy="548640"/>
            <a:chOff x="0" y="0"/>
            <a:chExt cx="207264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72640" cy="731520"/>
            </a:xfrm>
            <a:custGeom>
              <a:avLst/>
              <a:gdLst/>
              <a:ahLst/>
              <a:cxnLst/>
              <a:rect l="l" t="t" r="r" b="b"/>
              <a:pathLst>
                <a:path w="2072640" h="731520">
                  <a:moveTo>
                    <a:pt x="0" y="0"/>
                  </a:moveTo>
                  <a:lnTo>
                    <a:pt x="2072640" y="0"/>
                  </a:lnTo>
                  <a:lnTo>
                    <a:pt x="207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07" b="-52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0726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639"/>
                </a:lnSpc>
              </a:pPr>
              <a:r>
                <a:rPr lang="en-US" sz="2199" b="1">
                  <a:solidFill>
                    <a:srgbClr val="E860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2012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82372" y="4464177"/>
            <a:ext cx="7498080" cy="457200"/>
            <a:chOff x="0" y="0"/>
            <a:chExt cx="9997440" cy="609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997440" cy="609600"/>
            </a:xfrm>
            <a:custGeom>
              <a:avLst/>
              <a:gdLst/>
              <a:ahLst/>
              <a:cxnLst/>
              <a:rect l="l" t="t" r="r" b="b"/>
              <a:pathLst>
                <a:path w="9997440" h="60960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9997440" cy="61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1A4FA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 layers · 60M params · ImageNet top-5 error 25.8% → 16.4%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82372" y="4930140"/>
            <a:ext cx="749808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69" lvl="1" indent="-229235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GPUs + 1.2M images, ReLU, dropout, augmentation</a:t>
            </a:r>
          </a:p>
          <a:p>
            <a:pPr marL="458469" lvl="1" indent="-229235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 conv + 3 FC, split over two GPUs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82372" y="8341233"/>
            <a:ext cx="7498080" cy="365760"/>
            <a:chOff x="0" y="0"/>
            <a:chExt cx="9997440" cy="4876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997440" cy="487680"/>
            </a:xfrm>
            <a:custGeom>
              <a:avLst/>
              <a:gdLst/>
              <a:ahLst/>
              <a:cxnLst/>
              <a:rect l="l" t="t" r="r" b="b"/>
              <a:pathLst>
                <a:path w="9997440" h="48768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9443" b="-34944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999744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i="1">
                  <a:solidFill>
                    <a:srgbClr val="6B728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Krizhevsky et al., 2012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51630" y="3853913"/>
            <a:ext cx="7934672" cy="4840135"/>
            <a:chOff x="0" y="0"/>
            <a:chExt cx="2089790" cy="127476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89790" cy="1274768"/>
            </a:xfrm>
            <a:custGeom>
              <a:avLst/>
              <a:gdLst/>
              <a:ahLst/>
              <a:cxnLst/>
              <a:rect l="l" t="t" r="r" b="b"/>
              <a:pathLst>
                <a:path w="2089790" h="1274768">
                  <a:moveTo>
                    <a:pt x="16587" y="0"/>
                  </a:moveTo>
                  <a:lnTo>
                    <a:pt x="2073203" y="0"/>
                  </a:lnTo>
                  <a:cubicBezTo>
                    <a:pt x="2082364" y="0"/>
                    <a:pt x="2089790" y="7426"/>
                    <a:pt x="2089790" y="16587"/>
                  </a:cubicBezTo>
                  <a:lnTo>
                    <a:pt x="2089790" y="1258181"/>
                  </a:lnTo>
                  <a:cubicBezTo>
                    <a:pt x="2089790" y="1267342"/>
                    <a:pt x="2082364" y="1274768"/>
                    <a:pt x="2073203" y="1274768"/>
                  </a:cubicBezTo>
                  <a:lnTo>
                    <a:pt x="16587" y="1274768"/>
                  </a:lnTo>
                  <a:cubicBezTo>
                    <a:pt x="7426" y="1274768"/>
                    <a:pt x="0" y="1267342"/>
                    <a:pt x="0" y="1258181"/>
                  </a:cubicBezTo>
                  <a:lnTo>
                    <a:pt x="0" y="16587"/>
                  </a:lnTo>
                  <a:cubicBezTo>
                    <a:pt x="0" y="7426"/>
                    <a:pt x="7426" y="0"/>
                    <a:pt x="16587" y="0"/>
                  </a:cubicBezTo>
                  <a:close/>
                </a:path>
              </a:pathLst>
            </a:custGeom>
            <a:ln w="28575" cap="sq">
              <a:solidFill>
                <a:srgbClr val="2B4F9D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2089790" cy="129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588508" y="3829440"/>
            <a:ext cx="4572000" cy="640080"/>
            <a:chOff x="0" y="0"/>
            <a:chExt cx="6096000" cy="8534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096000" cy="853440"/>
            </a:xfrm>
            <a:custGeom>
              <a:avLst/>
              <a:gdLst/>
              <a:ahLst/>
              <a:cxnLst/>
              <a:rect l="l" t="t" r="r" b="b"/>
              <a:pathLst>
                <a:path w="6096000" h="85344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9178" b="-8917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6096000" cy="872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F29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VGG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588508" y="3920880"/>
            <a:ext cx="1554480" cy="548640"/>
            <a:chOff x="0" y="0"/>
            <a:chExt cx="2072640" cy="7315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72640" cy="731520"/>
            </a:xfrm>
            <a:custGeom>
              <a:avLst/>
              <a:gdLst/>
              <a:ahLst/>
              <a:cxnLst/>
              <a:rect l="l" t="t" r="r" b="b"/>
              <a:pathLst>
                <a:path w="2072640" h="731520">
                  <a:moveTo>
                    <a:pt x="0" y="0"/>
                  </a:moveTo>
                  <a:lnTo>
                    <a:pt x="2072640" y="0"/>
                  </a:lnTo>
                  <a:lnTo>
                    <a:pt x="207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07" b="-52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20726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639"/>
                </a:lnSpc>
              </a:pPr>
              <a:r>
                <a:rPr lang="en-US" sz="2199" b="1">
                  <a:solidFill>
                    <a:srgbClr val="E860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2014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88508" y="4451232"/>
            <a:ext cx="7498080" cy="457200"/>
            <a:chOff x="0" y="0"/>
            <a:chExt cx="9997440" cy="6096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997440" cy="609600"/>
            </a:xfrm>
            <a:custGeom>
              <a:avLst/>
              <a:gdLst/>
              <a:ahLst/>
              <a:cxnLst/>
              <a:rect l="l" t="t" r="r" b="b"/>
              <a:pathLst>
                <a:path w="9997440" h="60960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9997440" cy="61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1A4FA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16–19 layers · top-5 error 7.3%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588508" y="4917195"/>
            <a:ext cx="749808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69" lvl="1" indent="-229235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Only 3×3 filters: three 3×3 = one 7×7 receptive field, 27C² vs 49C² weights (C = channels), more non-linearity</a:t>
            </a:r>
          </a:p>
          <a:p>
            <a:pPr marL="458469" lvl="1" indent="-229235" algn="l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Same simple block, repeated → just go deeper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0456504" y="5937380"/>
            <a:ext cx="5762088" cy="2390908"/>
            <a:chOff x="0" y="0"/>
            <a:chExt cx="6949440" cy="2883586"/>
          </a:xfrm>
        </p:grpSpPr>
        <p:sp>
          <p:nvSpPr>
            <p:cNvPr id="41" name="Freeform 41" descr="/tmp/claude-0/-home-claude/22184b4b-dde6-5633-8a1d-c15502e7dd9e/scratchpad/dgist/fig_vgg.png"/>
            <p:cNvSpPr/>
            <p:nvPr/>
          </p:nvSpPr>
          <p:spPr>
            <a:xfrm>
              <a:off x="0" y="0"/>
              <a:ext cx="6949440" cy="2883535"/>
            </a:xfrm>
            <a:custGeom>
              <a:avLst/>
              <a:gdLst/>
              <a:ahLst/>
              <a:cxnLst/>
              <a:rect l="l" t="t" r="r" b="b"/>
              <a:pathLst>
                <a:path w="6949440" h="2883535">
                  <a:moveTo>
                    <a:pt x="0" y="0"/>
                  </a:moveTo>
                  <a:lnTo>
                    <a:pt x="6949440" y="0"/>
                  </a:lnTo>
                  <a:lnTo>
                    <a:pt x="6949440" y="2883535"/>
                  </a:lnTo>
                  <a:lnTo>
                    <a:pt x="0" y="2883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6" b="-7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01698" y="8899371"/>
            <a:ext cx="16484603" cy="644670"/>
            <a:chOff x="0" y="0"/>
            <a:chExt cx="21979471" cy="8595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979510" cy="859598"/>
            </a:xfrm>
            <a:custGeom>
              <a:avLst/>
              <a:gdLst/>
              <a:ahLst/>
              <a:cxnLst/>
              <a:rect l="l" t="t" r="r" b="b"/>
              <a:pathLst>
                <a:path w="21979510" h="859598">
                  <a:moveTo>
                    <a:pt x="0" y="125043"/>
                  </a:moveTo>
                  <a:cubicBezTo>
                    <a:pt x="0" y="55972"/>
                    <a:pt x="89535" y="0"/>
                    <a:pt x="200025" y="0"/>
                  </a:cubicBezTo>
                  <a:lnTo>
                    <a:pt x="21779485" y="0"/>
                  </a:lnTo>
                  <a:cubicBezTo>
                    <a:pt x="21889974" y="0"/>
                    <a:pt x="21979510" y="55972"/>
                    <a:pt x="21979510" y="125043"/>
                  </a:cubicBezTo>
                  <a:lnTo>
                    <a:pt x="21979510" y="734540"/>
                  </a:lnTo>
                  <a:cubicBezTo>
                    <a:pt x="21979510" y="803612"/>
                    <a:pt x="21889974" y="859598"/>
                    <a:pt x="21779485" y="859598"/>
                  </a:cubicBezTo>
                  <a:lnTo>
                    <a:pt x="200025" y="859598"/>
                  </a:lnTo>
                  <a:cubicBezTo>
                    <a:pt x="89535" y="859598"/>
                    <a:pt x="0" y="803612"/>
                    <a:pt x="0" y="734540"/>
                  </a:cubicBezTo>
                  <a:close/>
                </a:path>
              </a:pathLst>
            </a:custGeom>
            <a:solidFill>
              <a:srgbClr val="1A4FA0"/>
            </a:solidFill>
            <a:ln w="25400" cap="sq">
              <a:solidFill>
                <a:srgbClr val="1A4FA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88715" y="8927946"/>
            <a:ext cx="15910560" cy="616095"/>
            <a:chOff x="0" y="0"/>
            <a:chExt cx="21214080" cy="8214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214080" cy="821460"/>
            </a:xfrm>
            <a:custGeom>
              <a:avLst/>
              <a:gdLst/>
              <a:ahLst/>
              <a:cxnLst/>
              <a:rect l="l" t="t" r="r" b="b"/>
              <a:pathLst>
                <a:path w="21214080" h="821460">
                  <a:moveTo>
                    <a:pt x="0" y="0"/>
                  </a:moveTo>
                  <a:lnTo>
                    <a:pt x="21214080" y="0"/>
                  </a:lnTo>
                  <a:lnTo>
                    <a:pt x="21214080" y="821460"/>
                  </a:lnTo>
                  <a:lnTo>
                    <a:pt x="0" y="821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1568" b="-48482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21214080" cy="830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AlexNet made depth trainable. VGG made depth simple. Lesson: deeper is better — if you can train it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6916400" y="9627870"/>
            <a:ext cx="54864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3/5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106934" y="5795032"/>
            <a:ext cx="7648946" cy="2428234"/>
            <a:chOff x="0" y="0"/>
            <a:chExt cx="6339840" cy="201264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339840" cy="2012696"/>
            </a:xfrm>
            <a:custGeom>
              <a:avLst/>
              <a:gdLst/>
              <a:ahLst/>
              <a:cxnLst/>
              <a:rect l="l" t="t" r="r" b="b"/>
              <a:pathLst>
                <a:path w="6339840" h="2012696">
                  <a:moveTo>
                    <a:pt x="0" y="0"/>
                  </a:moveTo>
                  <a:lnTo>
                    <a:pt x="6339840" y="0"/>
                  </a:lnTo>
                  <a:lnTo>
                    <a:pt x="6339840" y="2012696"/>
                  </a:lnTo>
                  <a:lnTo>
                    <a:pt x="0" y="2012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2" r="-59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900211" y="1617295"/>
            <a:ext cx="5516120" cy="1636836"/>
            <a:chOff x="0" y="0"/>
            <a:chExt cx="6339840" cy="1881264"/>
          </a:xfrm>
        </p:grpSpPr>
        <p:sp>
          <p:nvSpPr>
            <p:cNvPr id="51" name="Freeform 51" descr="/tmp/claude-0/-home-claude/22184b4b-dde6-5633-8a1d-c15502e7dd9e/scratchpad/dgist/fig_lenet.png"/>
            <p:cNvSpPr/>
            <p:nvPr/>
          </p:nvSpPr>
          <p:spPr>
            <a:xfrm>
              <a:off x="0" y="0"/>
              <a:ext cx="6339840" cy="1881251"/>
            </a:xfrm>
            <a:custGeom>
              <a:avLst/>
              <a:gdLst/>
              <a:ahLst/>
              <a:cxnLst/>
              <a:rect l="l" t="t" r="r" b="b"/>
              <a:pathLst>
                <a:path w="6339840" h="1881251">
                  <a:moveTo>
                    <a:pt x="0" y="0"/>
                  </a:moveTo>
                  <a:lnTo>
                    <a:pt x="6339840" y="0"/>
                  </a:lnTo>
                  <a:lnTo>
                    <a:pt x="6339840" y="1881251"/>
                  </a:lnTo>
                  <a:lnTo>
                    <a:pt x="0" y="1881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0" r="-7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210532" y="1746109"/>
            <a:ext cx="652826" cy="454112"/>
            <a:chOff x="0" y="0"/>
            <a:chExt cx="870434" cy="60548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70434" cy="605482"/>
            </a:xfrm>
            <a:custGeom>
              <a:avLst/>
              <a:gdLst/>
              <a:ahLst/>
              <a:cxnLst/>
              <a:rect l="l" t="t" r="r" b="b"/>
              <a:pathLst>
                <a:path w="870434" h="605482">
                  <a:moveTo>
                    <a:pt x="0" y="0"/>
                  </a:moveTo>
                  <a:lnTo>
                    <a:pt x="870434" y="0"/>
                  </a:lnTo>
                  <a:lnTo>
                    <a:pt x="870434" y="605482"/>
                  </a:lnTo>
                  <a:lnTo>
                    <a:pt x="0" y="6054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91" r="-138115" b="-2710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870434" cy="6245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639"/>
                </a:lnSpc>
              </a:pPr>
              <a:r>
                <a:rPr lang="en-US" sz="2199" b="1">
                  <a:solidFill>
                    <a:srgbClr val="E860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1998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702986" y="2305811"/>
            <a:ext cx="4754880" cy="390023"/>
            <a:chOff x="0" y="0"/>
            <a:chExt cx="6339840" cy="52003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339840" cy="520030"/>
            </a:xfrm>
            <a:custGeom>
              <a:avLst/>
              <a:gdLst/>
              <a:ahLst/>
              <a:cxnLst/>
              <a:rect l="l" t="t" r="r" b="b"/>
              <a:pathLst>
                <a:path w="6339840" h="520030">
                  <a:moveTo>
                    <a:pt x="0" y="0"/>
                  </a:moveTo>
                  <a:lnTo>
                    <a:pt x="6339840" y="0"/>
                  </a:lnTo>
                  <a:lnTo>
                    <a:pt x="6339840" y="520030"/>
                  </a:lnTo>
                  <a:lnTo>
                    <a:pt x="0" y="520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3768" b="-23132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9525"/>
              <a:ext cx="6339840" cy="5295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 b="1">
                  <a:solidFill>
                    <a:srgbClr val="1A4FA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 learnable layers · MNIST digits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80060" y="384048"/>
            <a:ext cx="1371600" cy="109728"/>
            <a:chOff x="0" y="0"/>
            <a:chExt cx="1828800" cy="146304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828800" cy="146304"/>
            </a:xfrm>
            <a:custGeom>
              <a:avLst/>
              <a:gdLst/>
              <a:ahLst/>
              <a:cxnLst/>
              <a:rect l="l" t="t" r="r" b="b"/>
              <a:pathLst>
                <a:path w="1828800" h="146304">
                  <a:moveTo>
                    <a:pt x="0" y="0"/>
                  </a:moveTo>
                  <a:lnTo>
                    <a:pt x="1828800" y="0"/>
                  </a:lnTo>
                  <a:lnTo>
                    <a:pt x="18288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155A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80060" y="562058"/>
            <a:ext cx="13098780" cy="754380"/>
            <a:chOff x="0" y="0"/>
            <a:chExt cx="17465040" cy="100584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7465039" cy="1005840"/>
            </a:xfrm>
            <a:custGeom>
              <a:avLst/>
              <a:gdLst/>
              <a:ahLst/>
              <a:cxnLst/>
              <a:rect l="l" t="t" r="r" b="b"/>
              <a:pathLst>
                <a:path w="17465039" h="1005840">
                  <a:moveTo>
                    <a:pt x="0" y="0"/>
                  </a:moveTo>
                  <a:lnTo>
                    <a:pt x="17465039" y="0"/>
                  </a:lnTo>
                  <a:lnTo>
                    <a:pt x="174650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414" r="-20418" b="-3574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28575"/>
              <a:ext cx="17465040" cy="10344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22222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Going deeper: LeNet → AlexNet → VGG</a:t>
              </a:r>
            </a:p>
          </p:txBody>
        </p:sp>
      </p:grpSp>
      <p:sp>
        <p:nvSpPr>
          <p:cNvPr id="63" name="AutoShape 63"/>
          <p:cNvSpPr/>
          <p:nvPr/>
        </p:nvSpPr>
        <p:spPr>
          <a:xfrm rot="3780">
            <a:off x="470525" y="1394270"/>
            <a:ext cx="17369800" cy="0"/>
          </a:xfrm>
          <a:prstGeom prst="line">
            <a:avLst/>
          </a:prstGeom>
          <a:ln w="9525" cap="rnd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4" name="Group 64"/>
          <p:cNvGrpSpPr/>
          <p:nvPr/>
        </p:nvGrpSpPr>
        <p:grpSpPr>
          <a:xfrm>
            <a:off x="7909231" y="3320805"/>
            <a:ext cx="7498080" cy="365760"/>
            <a:chOff x="0" y="0"/>
            <a:chExt cx="9997440" cy="48768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9997440" cy="487680"/>
            </a:xfrm>
            <a:custGeom>
              <a:avLst/>
              <a:gdLst/>
              <a:ahLst/>
              <a:cxnLst/>
              <a:rect l="l" t="t" r="r" b="b"/>
              <a:pathLst>
                <a:path w="9997440" h="48768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9443" b="-34944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999744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i="1">
                  <a:solidFill>
                    <a:srgbClr val="6B728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LeCun et al., 1998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051065"/>
            <a:ext cx="6859169" cy="4532600"/>
            <a:chOff x="0" y="0"/>
            <a:chExt cx="1806530" cy="11937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06530" cy="1193771"/>
            </a:xfrm>
            <a:custGeom>
              <a:avLst/>
              <a:gdLst/>
              <a:ahLst/>
              <a:cxnLst/>
              <a:rect l="l" t="t" r="r" b="b"/>
              <a:pathLst>
                <a:path w="1806530" h="1193771">
                  <a:moveTo>
                    <a:pt x="19188" y="0"/>
                  </a:moveTo>
                  <a:lnTo>
                    <a:pt x="1787342" y="0"/>
                  </a:lnTo>
                  <a:cubicBezTo>
                    <a:pt x="1792431" y="0"/>
                    <a:pt x="1797312" y="2022"/>
                    <a:pt x="1800910" y="5620"/>
                  </a:cubicBezTo>
                  <a:cubicBezTo>
                    <a:pt x="1804508" y="9218"/>
                    <a:pt x="1806530" y="14099"/>
                    <a:pt x="1806530" y="19188"/>
                  </a:cubicBezTo>
                  <a:lnTo>
                    <a:pt x="1806530" y="1174583"/>
                  </a:lnTo>
                  <a:cubicBezTo>
                    <a:pt x="1806530" y="1179672"/>
                    <a:pt x="1804508" y="1184553"/>
                    <a:pt x="1800910" y="1188151"/>
                  </a:cubicBezTo>
                  <a:cubicBezTo>
                    <a:pt x="1797312" y="1191750"/>
                    <a:pt x="1792431" y="1193771"/>
                    <a:pt x="1787342" y="1193771"/>
                  </a:cubicBezTo>
                  <a:lnTo>
                    <a:pt x="19188" y="1193771"/>
                  </a:lnTo>
                  <a:cubicBezTo>
                    <a:pt x="14099" y="1193771"/>
                    <a:pt x="9218" y="1191750"/>
                    <a:pt x="5620" y="1188151"/>
                  </a:cubicBezTo>
                  <a:cubicBezTo>
                    <a:pt x="2022" y="1184553"/>
                    <a:pt x="0" y="1179672"/>
                    <a:pt x="0" y="1174583"/>
                  </a:cubicBezTo>
                  <a:lnTo>
                    <a:pt x="0" y="19188"/>
                  </a:lnTo>
                  <a:cubicBezTo>
                    <a:pt x="0" y="14099"/>
                    <a:pt x="2022" y="9218"/>
                    <a:pt x="5620" y="5620"/>
                  </a:cubicBezTo>
                  <a:cubicBezTo>
                    <a:pt x="9218" y="2022"/>
                    <a:pt x="14099" y="0"/>
                    <a:pt x="19188" y="0"/>
                  </a:cubicBezTo>
                  <a:close/>
                </a:path>
              </a:pathLst>
            </a:custGeom>
            <a:ln w="28575" cap="sq">
              <a:solidFill>
                <a:srgbClr val="2B4F9D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806530" cy="1212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480019"/>
            <a:ext cx="6859169" cy="3379578"/>
            <a:chOff x="0" y="0"/>
            <a:chExt cx="1806530" cy="8900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06530" cy="890095"/>
            </a:xfrm>
            <a:custGeom>
              <a:avLst/>
              <a:gdLst/>
              <a:ahLst/>
              <a:cxnLst/>
              <a:rect l="l" t="t" r="r" b="b"/>
              <a:pathLst>
                <a:path w="1806530" h="890095">
                  <a:moveTo>
                    <a:pt x="19188" y="0"/>
                  </a:moveTo>
                  <a:lnTo>
                    <a:pt x="1787342" y="0"/>
                  </a:lnTo>
                  <a:cubicBezTo>
                    <a:pt x="1792431" y="0"/>
                    <a:pt x="1797312" y="2022"/>
                    <a:pt x="1800910" y="5620"/>
                  </a:cubicBezTo>
                  <a:cubicBezTo>
                    <a:pt x="1804508" y="9218"/>
                    <a:pt x="1806530" y="14099"/>
                    <a:pt x="1806530" y="19188"/>
                  </a:cubicBezTo>
                  <a:lnTo>
                    <a:pt x="1806530" y="870907"/>
                  </a:lnTo>
                  <a:cubicBezTo>
                    <a:pt x="1806530" y="875996"/>
                    <a:pt x="1804508" y="880876"/>
                    <a:pt x="1800910" y="884475"/>
                  </a:cubicBezTo>
                  <a:cubicBezTo>
                    <a:pt x="1797312" y="888073"/>
                    <a:pt x="1792431" y="890095"/>
                    <a:pt x="1787342" y="890095"/>
                  </a:cubicBezTo>
                  <a:lnTo>
                    <a:pt x="19188" y="890095"/>
                  </a:lnTo>
                  <a:cubicBezTo>
                    <a:pt x="14099" y="890095"/>
                    <a:pt x="9218" y="888073"/>
                    <a:pt x="5620" y="884475"/>
                  </a:cubicBezTo>
                  <a:cubicBezTo>
                    <a:pt x="2022" y="880876"/>
                    <a:pt x="0" y="875996"/>
                    <a:pt x="0" y="870907"/>
                  </a:cubicBezTo>
                  <a:lnTo>
                    <a:pt x="0" y="19188"/>
                  </a:lnTo>
                  <a:cubicBezTo>
                    <a:pt x="0" y="14099"/>
                    <a:pt x="2022" y="9218"/>
                    <a:pt x="5620" y="5620"/>
                  </a:cubicBezTo>
                  <a:cubicBezTo>
                    <a:pt x="9218" y="2022"/>
                    <a:pt x="14099" y="0"/>
                    <a:pt x="19188" y="0"/>
                  </a:cubicBezTo>
                  <a:close/>
                </a:path>
              </a:pathLst>
            </a:custGeom>
            <a:ln w="28575" cap="sq">
              <a:solidFill>
                <a:srgbClr val="E8604C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806530" cy="909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54569" y="1480019"/>
            <a:ext cx="9310471" cy="8103646"/>
            <a:chOff x="0" y="0"/>
            <a:chExt cx="2452141" cy="21342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52141" cy="2134294"/>
            </a:xfrm>
            <a:custGeom>
              <a:avLst/>
              <a:gdLst/>
              <a:ahLst/>
              <a:cxnLst/>
              <a:rect l="l" t="t" r="r" b="b"/>
              <a:pathLst>
                <a:path w="2452141" h="2134294">
                  <a:moveTo>
                    <a:pt x="14136" y="0"/>
                  </a:moveTo>
                  <a:lnTo>
                    <a:pt x="2438005" y="0"/>
                  </a:lnTo>
                  <a:cubicBezTo>
                    <a:pt x="2441754" y="0"/>
                    <a:pt x="2445349" y="1489"/>
                    <a:pt x="2448000" y="4140"/>
                  </a:cubicBezTo>
                  <a:cubicBezTo>
                    <a:pt x="2450651" y="6791"/>
                    <a:pt x="2452141" y="10387"/>
                    <a:pt x="2452141" y="14136"/>
                  </a:cubicBezTo>
                  <a:lnTo>
                    <a:pt x="2452141" y="2120158"/>
                  </a:lnTo>
                  <a:cubicBezTo>
                    <a:pt x="2452141" y="2127965"/>
                    <a:pt x="2445812" y="2134294"/>
                    <a:pt x="2438005" y="2134294"/>
                  </a:cubicBezTo>
                  <a:lnTo>
                    <a:pt x="14136" y="2134294"/>
                  </a:lnTo>
                  <a:cubicBezTo>
                    <a:pt x="6329" y="2134294"/>
                    <a:pt x="0" y="2127965"/>
                    <a:pt x="0" y="2120158"/>
                  </a:cubicBezTo>
                  <a:lnTo>
                    <a:pt x="0" y="14136"/>
                  </a:lnTo>
                  <a:cubicBezTo>
                    <a:pt x="0" y="6329"/>
                    <a:pt x="6329" y="0"/>
                    <a:pt x="14136" y="0"/>
                  </a:cubicBezTo>
                  <a:close/>
                </a:path>
              </a:pathLst>
            </a:custGeom>
            <a:ln w="28575" cap="sq">
              <a:solidFill>
                <a:srgbClr val="2B4F9D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452141" cy="2153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0821" y="1577812"/>
            <a:ext cx="7315200" cy="512064"/>
            <a:chOff x="0" y="0"/>
            <a:chExt cx="9753600" cy="682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753600" cy="682752"/>
            </a:xfrm>
            <a:custGeom>
              <a:avLst/>
              <a:gdLst/>
              <a:ahLst/>
              <a:cxnLst/>
              <a:rect l="l" t="t" r="r" b="b"/>
              <a:pathLst>
                <a:path w="9753600" h="682752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975360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E860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Problem: 56 plain layers do worse than 20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02956" y="2040727"/>
            <a:ext cx="2884459" cy="1975104"/>
            <a:chOff x="0" y="0"/>
            <a:chExt cx="4380104" cy="299923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80104" cy="2999257"/>
            </a:xfrm>
            <a:custGeom>
              <a:avLst/>
              <a:gdLst/>
              <a:ahLst/>
              <a:cxnLst/>
              <a:rect l="l" t="t" r="r" b="b"/>
              <a:pathLst>
                <a:path w="4380104" h="2999257">
                  <a:moveTo>
                    <a:pt x="0" y="0"/>
                  </a:moveTo>
                  <a:lnTo>
                    <a:pt x="4380104" y="0"/>
                  </a:lnTo>
                  <a:lnTo>
                    <a:pt x="4380104" y="2999257"/>
                  </a:lnTo>
                  <a:lnTo>
                    <a:pt x="0" y="2999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014" b="-30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07208" y="3731593"/>
            <a:ext cx="6613321" cy="961523"/>
            <a:chOff x="0" y="0"/>
            <a:chExt cx="8817761" cy="12820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817761" cy="1282030"/>
            </a:xfrm>
            <a:custGeom>
              <a:avLst/>
              <a:gdLst/>
              <a:ahLst/>
              <a:cxnLst/>
              <a:rect l="l" t="t" r="r" b="b"/>
              <a:pathLst>
                <a:path w="8817761" h="1282030">
                  <a:moveTo>
                    <a:pt x="0" y="0"/>
                  </a:moveTo>
                  <a:lnTo>
                    <a:pt x="8817761" y="0"/>
                  </a:lnTo>
                  <a:lnTo>
                    <a:pt x="8817761" y="1282030"/>
                  </a:lnTo>
                  <a:lnTo>
                    <a:pt x="0" y="1282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711" r="-10613" b="-7677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8817761" cy="12915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endParaRPr/>
            </a:p>
            <a:p>
              <a:pPr marL="410209" lvl="1" indent="-205105" algn="l">
                <a:lnSpc>
                  <a:spcPts val="2279"/>
                </a:lnSpc>
                <a:buFont typeface="Arial"/>
                <a:buChar char="•"/>
              </a:pPr>
              <a:r>
                <a:rPr lang="en-US" sz="1899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Even training error is worse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      → not overfitting. Deeper models are harder to optimize.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14920" y="5051065"/>
            <a:ext cx="4141223" cy="506853"/>
            <a:chOff x="0" y="0"/>
            <a:chExt cx="5578397" cy="68275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578397" cy="682752"/>
            </a:xfrm>
            <a:custGeom>
              <a:avLst/>
              <a:gdLst/>
              <a:ahLst/>
              <a:cxnLst/>
              <a:rect l="l" t="t" r="r" b="b"/>
              <a:pathLst>
                <a:path w="5578397" h="682752">
                  <a:moveTo>
                    <a:pt x="0" y="0"/>
                  </a:moveTo>
                  <a:lnTo>
                    <a:pt x="5578397" y="0"/>
                  </a:lnTo>
                  <a:lnTo>
                    <a:pt x="5578397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r="-83588" b="-24227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5578397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1A4FA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Solution: the residual block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07208" y="5528125"/>
            <a:ext cx="6387853" cy="2899887"/>
            <a:chOff x="0" y="0"/>
            <a:chExt cx="7164232" cy="325233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164195" cy="3252339"/>
            </a:xfrm>
            <a:custGeom>
              <a:avLst/>
              <a:gdLst/>
              <a:ahLst/>
              <a:cxnLst/>
              <a:rect l="l" t="t" r="r" b="b"/>
              <a:pathLst>
                <a:path w="7164195" h="3252339">
                  <a:moveTo>
                    <a:pt x="0" y="0"/>
                  </a:moveTo>
                  <a:lnTo>
                    <a:pt x="7164195" y="0"/>
                  </a:lnTo>
                  <a:lnTo>
                    <a:pt x="7164195" y="3252339"/>
                  </a:lnTo>
                  <a:lnTo>
                    <a:pt x="0" y="3252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21" r="-42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713662" y="8428012"/>
            <a:ext cx="1291217" cy="362038"/>
            <a:chOff x="0" y="0"/>
            <a:chExt cx="1739322" cy="4876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39323" cy="487680"/>
            </a:xfrm>
            <a:custGeom>
              <a:avLst/>
              <a:gdLst/>
              <a:ahLst/>
              <a:cxnLst/>
              <a:rect l="l" t="t" r="r" b="b"/>
              <a:pathLst>
                <a:path w="1739323" h="487680">
                  <a:moveTo>
                    <a:pt x="0" y="0"/>
                  </a:moveTo>
                  <a:lnTo>
                    <a:pt x="1739323" y="0"/>
                  </a:lnTo>
                  <a:lnTo>
                    <a:pt x="1739323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9185" r="-488808" b="-35918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739322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i="1">
                  <a:solidFill>
                    <a:srgbClr val="6B728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He et al., 2016 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55019" y="2040727"/>
            <a:ext cx="2888764" cy="1975104"/>
            <a:chOff x="0" y="0"/>
            <a:chExt cx="4380104" cy="299476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380104" cy="2994787"/>
            </a:xfrm>
            <a:custGeom>
              <a:avLst/>
              <a:gdLst/>
              <a:ahLst/>
              <a:cxnLst/>
              <a:rect l="l" t="t" r="r" b="b"/>
              <a:pathLst>
                <a:path w="4380104" h="2994787">
                  <a:moveTo>
                    <a:pt x="0" y="0"/>
                  </a:moveTo>
                  <a:lnTo>
                    <a:pt x="4380104" y="0"/>
                  </a:lnTo>
                  <a:lnTo>
                    <a:pt x="4380104" y="2994787"/>
                  </a:lnTo>
                  <a:lnTo>
                    <a:pt x="0" y="2994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046" b="-404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10148" y="8771000"/>
            <a:ext cx="6898246" cy="58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804" lvl="1" indent="-226902" algn="l">
              <a:lnSpc>
                <a:spcPts val="2256"/>
              </a:lnSpc>
              <a:buFont typeface="Arial"/>
              <a:buChar char="•"/>
            </a:pPr>
            <a:r>
              <a:rPr lang="en-US" sz="188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Layers learn only F(x) = H(x) − x → F = 0 gives identity</a:t>
            </a:r>
          </a:p>
          <a:p>
            <a:pPr marL="453804" lvl="1" indent="-226902" algn="l">
              <a:lnSpc>
                <a:spcPts val="2256"/>
              </a:lnSpc>
              <a:buFont typeface="Arial"/>
              <a:buChar char="•"/>
            </a:pPr>
            <a:r>
              <a:rPr lang="en-US" sz="188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Gradient flows straight through the skip path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916400" y="9627870"/>
            <a:ext cx="54864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4/5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480060" y="384048"/>
            <a:ext cx="1371600" cy="109728"/>
            <a:chOff x="0" y="0"/>
            <a:chExt cx="1828800" cy="14630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828800" cy="146304"/>
            </a:xfrm>
            <a:custGeom>
              <a:avLst/>
              <a:gdLst/>
              <a:ahLst/>
              <a:cxnLst/>
              <a:rect l="l" t="t" r="r" b="b"/>
              <a:pathLst>
                <a:path w="1828800" h="146304">
                  <a:moveTo>
                    <a:pt x="0" y="0"/>
                  </a:moveTo>
                  <a:lnTo>
                    <a:pt x="1828800" y="0"/>
                  </a:lnTo>
                  <a:lnTo>
                    <a:pt x="18288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155A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80060" y="562058"/>
            <a:ext cx="13098780" cy="754380"/>
            <a:chOff x="0" y="0"/>
            <a:chExt cx="17465040" cy="10058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7465039" cy="1005840"/>
            </a:xfrm>
            <a:custGeom>
              <a:avLst/>
              <a:gdLst/>
              <a:ahLst/>
              <a:cxnLst/>
              <a:rect l="l" t="t" r="r" b="b"/>
              <a:pathLst>
                <a:path w="17465039" h="1005840">
                  <a:moveTo>
                    <a:pt x="0" y="0"/>
                  </a:moveTo>
                  <a:lnTo>
                    <a:pt x="17465039" y="0"/>
                  </a:lnTo>
                  <a:lnTo>
                    <a:pt x="174650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414" r="-20418" b="-3574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17465040" cy="10344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22222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Deeper isn't free: the degradation problem and ResNet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 rot="3780">
            <a:off x="470525" y="1394270"/>
            <a:ext cx="17369800" cy="0"/>
          </a:xfrm>
          <a:prstGeom prst="line">
            <a:avLst/>
          </a:prstGeom>
          <a:ln w="9525" cap="rnd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7" name="Group 37"/>
          <p:cNvGrpSpPr/>
          <p:nvPr/>
        </p:nvGrpSpPr>
        <p:grpSpPr>
          <a:xfrm>
            <a:off x="8293159" y="8882778"/>
            <a:ext cx="9171881" cy="564058"/>
            <a:chOff x="0" y="0"/>
            <a:chExt cx="12755730" cy="78446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755730" cy="784460"/>
            </a:xfrm>
            <a:custGeom>
              <a:avLst/>
              <a:gdLst/>
              <a:ahLst/>
              <a:cxnLst/>
              <a:rect l="l" t="t" r="r" b="b"/>
              <a:pathLst>
                <a:path w="12755730" h="784460">
                  <a:moveTo>
                    <a:pt x="0" y="0"/>
                  </a:moveTo>
                  <a:lnTo>
                    <a:pt x="12755730" y="0"/>
                  </a:lnTo>
                  <a:lnTo>
                    <a:pt x="12755730" y="784460"/>
                  </a:lnTo>
                  <a:lnTo>
                    <a:pt x="0" y="784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168" r="58494" b="-33517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2755730" cy="784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99"/>
                </a:lnSpc>
              </a:pPr>
              <a:r>
                <a:rPr lang="en-US" sz="1999" b="1">
                  <a:solidFill>
                    <a:srgbClr val="1A4FA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made depth possible was the skip connection, not just more layers.</a:t>
              </a:r>
            </a:p>
          </p:txBody>
        </p:sp>
      </p:grpSp>
      <p:sp>
        <p:nvSpPr>
          <p:cNvPr id="40" name="Freeform 40"/>
          <p:cNvSpPr/>
          <p:nvPr/>
        </p:nvSpPr>
        <p:spPr>
          <a:xfrm>
            <a:off x="8614764" y="2529136"/>
            <a:ext cx="8644536" cy="3754970"/>
          </a:xfrm>
          <a:custGeom>
            <a:avLst/>
            <a:gdLst/>
            <a:ahLst/>
            <a:cxnLst/>
            <a:rect l="l" t="t" r="r" b="b"/>
            <a:pathLst>
              <a:path w="8644536" h="3754970">
                <a:moveTo>
                  <a:pt x="0" y="0"/>
                </a:moveTo>
                <a:lnTo>
                  <a:pt x="8644536" y="0"/>
                </a:lnTo>
                <a:lnTo>
                  <a:pt x="8644536" y="3754970"/>
                </a:lnTo>
                <a:lnTo>
                  <a:pt x="0" y="3754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1" name="TextBox 41"/>
          <p:cNvSpPr txBox="1"/>
          <p:nvPr/>
        </p:nvSpPr>
        <p:spPr>
          <a:xfrm>
            <a:off x="8623523" y="1716877"/>
            <a:ext cx="5669974" cy="32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  <a:spcBef>
                <a:spcPct val="0"/>
              </a:spcBef>
            </a:pPr>
            <a:r>
              <a:rPr lang="en-US" sz="210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Result: 152 layers, error below human level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623523" y="2097877"/>
            <a:ext cx="349553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1"/>
              </a:lnSpc>
              <a:spcBef>
                <a:spcPct val="0"/>
              </a:spcBef>
            </a:pPr>
            <a:r>
              <a:rPr lang="en-US" sz="1909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ImageNet top-5 error (%)</a:t>
            </a:r>
          </a:p>
        </p:txBody>
      </p:sp>
      <p:graphicFrame>
        <p:nvGraphicFramePr>
          <p:cNvPr id="43" name="Table 43"/>
          <p:cNvGraphicFramePr>
            <a:graphicFrameLocks noGrp="1"/>
          </p:cNvGraphicFramePr>
          <p:nvPr/>
        </p:nvGraphicFramePr>
        <p:xfrm>
          <a:off x="8506021" y="6949087"/>
          <a:ext cx="8840085" cy="1716736"/>
        </p:xfrm>
        <a:graphic>
          <a:graphicData uri="http://schemas.openxmlformats.org/drawingml/2006/table">
            <a:tbl>
              <a:tblPr/>
              <a:tblGrid>
                <a:gridCol w="1742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2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2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2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0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0602"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ResNet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5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VGG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Human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AlexNet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532"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Layers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152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5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19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-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8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602"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Top-5 error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3.6%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5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7.3%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5.1%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16.4%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8052" y="1855845"/>
            <a:ext cx="5316217" cy="2297781"/>
            <a:chOff x="0" y="0"/>
            <a:chExt cx="7088289" cy="30637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88251" cy="3063681"/>
            </a:xfrm>
            <a:custGeom>
              <a:avLst/>
              <a:gdLst/>
              <a:ahLst/>
              <a:cxnLst/>
              <a:rect l="l" t="t" r="r" b="b"/>
              <a:pathLst>
                <a:path w="7088251" h="3063681">
                  <a:moveTo>
                    <a:pt x="0" y="140047"/>
                  </a:moveTo>
                  <a:cubicBezTo>
                    <a:pt x="0" y="62667"/>
                    <a:pt x="87630" y="0"/>
                    <a:pt x="195834" y="0"/>
                  </a:cubicBezTo>
                  <a:lnTo>
                    <a:pt x="6892417" y="0"/>
                  </a:lnTo>
                  <a:cubicBezTo>
                    <a:pt x="7000622" y="0"/>
                    <a:pt x="7088251" y="62667"/>
                    <a:pt x="7088251" y="140047"/>
                  </a:cubicBezTo>
                  <a:lnTo>
                    <a:pt x="7088251" y="2923634"/>
                  </a:lnTo>
                  <a:cubicBezTo>
                    <a:pt x="7088251" y="3001014"/>
                    <a:pt x="7000622" y="3063681"/>
                    <a:pt x="6892417" y="3063681"/>
                  </a:cubicBezTo>
                  <a:lnTo>
                    <a:pt x="195834" y="3063681"/>
                  </a:lnTo>
                  <a:cubicBezTo>
                    <a:pt x="87630" y="3063681"/>
                    <a:pt x="0" y="3001014"/>
                    <a:pt x="0" y="2923634"/>
                  </a:cubicBezTo>
                  <a:close/>
                </a:path>
              </a:pathLst>
            </a:custGeom>
            <a:solidFill>
              <a:srgbClr val="F3F5F9"/>
            </a:solidFill>
            <a:ln w="12700" cap="sq">
              <a:solidFill>
                <a:srgbClr val="F3F5F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88725" y="1990214"/>
            <a:ext cx="4754880" cy="548640"/>
            <a:chOff x="0" y="0"/>
            <a:chExt cx="6339840" cy="7315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39840" cy="731520"/>
            </a:xfrm>
            <a:custGeom>
              <a:avLst/>
              <a:gdLst/>
              <a:ahLst/>
              <a:cxnLst/>
              <a:rect l="l" t="t" r="r" b="b"/>
              <a:pathLst>
                <a:path w="6339840" h="731520">
                  <a:moveTo>
                    <a:pt x="0" y="0"/>
                  </a:moveTo>
                  <a:lnTo>
                    <a:pt x="6339840" y="0"/>
                  </a:lnTo>
                  <a:lnTo>
                    <a:pt x="633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70" b="-11887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633984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1F29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AlexNet · 2012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88725" y="2538854"/>
            <a:ext cx="4754880" cy="548640"/>
            <a:chOff x="0" y="0"/>
            <a:chExt cx="6339840" cy="7315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39840" cy="731520"/>
            </a:xfrm>
            <a:custGeom>
              <a:avLst/>
              <a:gdLst/>
              <a:ahLst/>
              <a:cxnLst/>
              <a:rect l="l" t="t" r="r" b="b"/>
              <a:pathLst>
                <a:path w="6339840" h="731520">
                  <a:moveTo>
                    <a:pt x="0" y="0"/>
                  </a:moveTo>
                  <a:lnTo>
                    <a:pt x="6339840" y="0"/>
                  </a:lnTo>
                  <a:lnTo>
                    <a:pt x="633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70" b="-11887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3398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E860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made depth TRAINABLE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224268" y="2891913"/>
            <a:ext cx="299723" cy="391163"/>
            <a:chOff x="0" y="0"/>
            <a:chExt cx="399631" cy="5215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99669" cy="521589"/>
            </a:xfrm>
            <a:custGeom>
              <a:avLst/>
              <a:gdLst/>
              <a:ahLst/>
              <a:cxnLst/>
              <a:rect l="l" t="t" r="r" b="b"/>
              <a:pathLst>
                <a:path w="399669" h="521589">
                  <a:moveTo>
                    <a:pt x="0" y="130429"/>
                  </a:moveTo>
                  <a:lnTo>
                    <a:pt x="199771" y="130429"/>
                  </a:lnTo>
                  <a:lnTo>
                    <a:pt x="199771" y="0"/>
                  </a:lnTo>
                  <a:lnTo>
                    <a:pt x="399669" y="260731"/>
                  </a:lnTo>
                  <a:lnTo>
                    <a:pt x="199771" y="521589"/>
                  </a:lnTo>
                  <a:lnTo>
                    <a:pt x="199771" y="391160"/>
                  </a:lnTo>
                  <a:lnTo>
                    <a:pt x="0" y="391160"/>
                  </a:lnTo>
                  <a:close/>
                </a:path>
              </a:pathLst>
            </a:custGeom>
            <a:solidFill>
              <a:srgbClr val="6B7280"/>
            </a:solidFill>
            <a:ln w="25400" cap="sq">
              <a:solidFill>
                <a:srgbClr val="6B728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23992" y="1855845"/>
            <a:ext cx="5278117" cy="2297781"/>
            <a:chOff x="0" y="0"/>
            <a:chExt cx="7037489" cy="30637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37451" cy="3063681"/>
            </a:xfrm>
            <a:custGeom>
              <a:avLst/>
              <a:gdLst/>
              <a:ahLst/>
              <a:cxnLst/>
              <a:rect l="l" t="t" r="r" b="b"/>
              <a:pathLst>
                <a:path w="7037451" h="3063681">
                  <a:moveTo>
                    <a:pt x="0" y="140047"/>
                  </a:moveTo>
                  <a:cubicBezTo>
                    <a:pt x="0" y="62667"/>
                    <a:pt x="87002" y="0"/>
                    <a:pt x="194431" y="0"/>
                  </a:cubicBezTo>
                  <a:lnTo>
                    <a:pt x="6843021" y="0"/>
                  </a:lnTo>
                  <a:cubicBezTo>
                    <a:pt x="6950450" y="0"/>
                    <a:pt x="7037451" y="62667"/>
                    <a:pt x="7037451" y="140047"/>
                  </a:cubicBezTo>
                  <a:lnTo>
                    <a:pt x="7037451" y="2923634"/>
                  </a:lnTo>
                  <a:cubicBezTo>
                    <a:pt x="7037451" y="3001014"/>
                    <a:pt x="6950450" y="3063681"/>
                    <a:pt x="6843021" y="3063681"/>
                  </a:cubicBezTo>
                  <a:lnTo>
                    <a:pt x="194431" y="3063681"/>
                  </a:lnTo>
                  <a:cubicBezTo>
                    <a:pt x="87002" y="3063681"/>
                    <a:pt x="0" y="3001014"/>
                    <a:pt x="0" y="2923634"/>
                  </a:cubicBezTo>
                  <a:close/>
                </a:path>
              </a:pathLst>
            </a:custGeom>
            <a:solidFill>
              <a:srgbClr val="F3F5F9"/>
            </a:solidFill>
            <a:ln w="12700" cap="sq">
              <a:solidFill>
                <a:srgbClr val="F3F5F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66565" y="1990214"/>
            <a:ext cx="4754880" cy="548640"/>
            <a:chOff x="0" y="0"/>
            <a:chExt cx="6339840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39840" cy="731520"/>
            </a:xfrm>
            <a:custGeom>
              <a:avLst/>
              <a:gdLst/>
              <a:ahLst/>
              <a:cxnLst/>
              <a:rect l="l" t="t" r="r" b="b"/>
              <a:pathLst>
                <a:path w="6339840" h="731520">
                  <a:moveTo>
                    <a:pt x="0" y="0"/>
                  </a:moveTo>
                  <a:lnTo>
                    <a:pt x="6339840" y="0"/>
                  </a:lnTo>
                  <a:lnTo>
                    <a:pt x="633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70" b="-11887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633984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1F29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VGG · 2014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66565" y="2538854"/>
            <a:ext cx="4754880" cy="548640"/>
            <a:chOff x="0" y="0"/>
            <a:chExt cx="633984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39840" cy="731520"/>
            </a:xfrm>
            <a:custGeom>
              <a:avLst/>
              <a:gdLst/>
              <a:ahLst/>
              <a:cxnLst/>
              <a:rect l="l" t="t" r="r" b="b"/>
              <a:pathLst>
                <a:path w="6339840" h="731520">
                  <a:moveTo>
                    <a:pt x="0" y="0"/>
                  </a:moveTo>
                  <a:lnTo>
                    <a:pt x="6339840" y="0"/>
                  </a:lnTo>
                  <a:lnTo>
                    <a:pt x="633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70" b="-11887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63398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E860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made depth SIMPLE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783063" y="2891913"/>
            <a:ext cx="299723" cy="391163"/>
            <a:chOff x="0" y="0"/>
            <a:chExt cx="399631" cy="5215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99669" cy="521589"/>
            </a:xfrm>
            <a:custGeom>
              <a:avLst/>
              <a:gdLst/>
              <a:ahLst/>
              <a:cxnLst/>
              <a:rect l="l" t="t" r="r" b="b"/>
              <a:pathLst>
                <a:path w="399669" h="521589">
                  <a:moveTo>
                    <a:pt x="0" y="130429"/>
                  </a:moveTo>
                  <a:lnTo>
                    <a:pt x="199771" y="130429"/>
                  </a:lnTo>
                  <a:lnTo>
                    <a:pt x="199771" y="0"/>
                  </a:lnTo>
                  <a:lnTo>
                    <a:pt x="399669" y="260731"/>
                  </a:lnTo>
                  <a:lnTo>
                    <a:pt x="199771" y="521589"/>
                  </a:lnTo>
                  <a:lnTo>
                    <a:pt x="199771" y="391160"/>
                  </a:lnTo>
                  <a:lnTo>
                    <a:pt x="0" y="391160"/>
                  </a:lnTo>
                  <a:close/>
                </a:path>
              </a:pathLst>
            </a:custGeom>
            <a:solidFill>
              <a:srgbClr val="6B7280"/>
            </a:solidFill>
            <a:ln w="25400" cap="sq">
              <a:solidFill>
                <a:srgbClr val="6B728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063732" y="1855845"/>
            <a:ext cx="5316217" cy="2297781"/>
            <a:chOff x="0" y="0"/>
            <a:chExt cx="7088289" cy="30637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088251" cy="3063681"/>
            </a:xfrm>
            <a:custGeom>
              <a:avLst/>
              <a:gdLst/>
              <a:ahLst/>
              <a:cxnLst/>
              <a:rect l="l" t="t" r="r" b="b"/>
              <a:pathLst>
                <a:path w="7088251" h="3063681">
                  <a:moveTo>
                    <a:pt x="0" y="140047"/>
                  </a:moveTo>
                  <a:cubicBezTo>
                    <a:pt x="0" y="62667"/>
                    <a:pt x="87630" y="0"/>
                    <a:pt x="195834" y="0"/>
                  </a:cubicBezTo>
                  <a:lnTo>
                    <a:pt x="6892417" y="0"/>
                  </a:lnTo>
                  <a:cubicBezTo>
                    <a:pt x="7000622" y="0"/>
                    <a:pt x="7088251" y="62667"/>
                    <a:pt x="7088251" y="140047"/>
                  </a:cubicBezTo>
                  <a:lnTo>
                    <a:pt x="7088251" y="2923634"/>
                  </a:lnTo>
                  <a:cubicBezTo>
                    <a:pt x="7088251" y="3001014"/>
                    <a:pt x="7000622" y="3063681"/>
                    <a:pt x="6892417" y="3063681"/>
                  </a:cubicBezTo>
                  <a:lnTo>
                    <a:pt x="195834" y="3063681"/>
                  </a:lnTo>
                  <a:cubicBezTo>
                    <a:pt x="87630" y="3063681"/>
                    <a:pt x="0" y="3001014"/>
                    <a:pt x="0" y="2923634"/>
                  </a:cubicBezTo>
                  <a:close/>
                </a:path>
              </a:pathLst>
            </a:custGeom>
            <a:solidFill>
              <a:srgbClr val="DBEAFE"/>
            </a:solidFill>
            <a:ln w="12700" cap="sq">
              <a:solidFill>
                <a:srgbClr val="DBEAF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344405" y="1990214"/>
            <a:ext cx="4754880" cy="548640"/>
            <a:chOff x="0" y="0"/>
            <a:chExt cx="6339840" cy="7315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39840" cy="731520"/>
            </a:xfrm>
            <a:custGeom>
              <a:avLst/>
              <a:gdLst/>
              <a:ahLst/>
              <a:cxnLst/>
              <a:rect l="l" t="t" r="r" b="b"/>
              <a:pathLst>
                <a:path w="6339840" h="731520">
                  <a:moveTo>
                    <a:pt x="0" y="0"/>
                  </a:moveTo>
                  <a:lnTo>
                    <a:pt x="6339840" y="0"/>
                  </a:lnTo>
                  <a:lnTo>
                    <a:pt x="633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70" b="-11887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633984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1F29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ResNet · 2015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344405" y="2538854"/>
            <a:ext cx="4754880" cy="548640"/>
            <a:chOff x="0" y="0"/>
            <a:chExt cx="6339840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339840" cy="731520"/>
            </a:xfrm>
            <a:custGeom>
              <a:avLst/>
              <a:gdLst/>
              <a:ahLst/>
              <a:cxnLst/>
              <a:rect l="l" t="t" r="r" b="b"/>
              <a:pathLst>
                <a:path w="6339840" h="731520">
                  <a:moveTo>
                    <a:pt x="0" y="0"/>
                  </a:moveTo>
                  <a:lnTo>
                    <a:pt x="6339840" y="0"/>
                  </a:lnTo>
                  <a:lnTo>
                    <a:pt x="6339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70" b="-11887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63398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E860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made depth OPTIMIZABLE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08052" y="4445364"/>
            <a:ext cx="16490947" cy="946147"/>
            <a:chOff x="0" y="0"/>
            <a:chExt cx="21987929" cy="126152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987890" cy="1261491"/>
            </a:xfrm>
            <a:custGeom>
              <a:avLst/>
              <a:gdLst/>
              <a:ahLst/>
              <a:cxnLst/>
              <a:rect l="l" t="t" r="r" b="b"/>
              <a:pathLst>
                <a:path w="21987890" h="1261491">
                  <a:moveTo>
                    <a:pt x="0" y="201803"/>
                  </a:moveTo>
                  <a:cubicBezTo>
                    <a:pt x="0" y="90424"/>
                    <a:pt x="90424" y="0"/>
                    <a:pt x="201803" y="0"/>
                  </a:cubicBezTo>
                  <a:lnTo>
                    <a:pt x="21786087" y="0"/>
                  </a:lnTo>
                  <a:cubicBezTo>
                    <a:pt x="21897594" y="0"/>
                    <a:pt x="21987890" y="90424"/>
                    <a:pt x="21987890" y="201803"/>
                  </a:cubicBezTo>
                  <a:lnTo>
                    <a:pt x="21987890" y="1059688"/>
                  </a:lnTo>
                  <a:cubicBezTo>
                    <a:pt x="21987890" y="1171194"/>
                    <a:pt x="21897467" y="1261491"/>
                    <a:pt x="21786087" y="1261491"/>
                  </a:cubicBezTo>
                  <a:lnTo>
                    <a:pt x="201803" y="1261491"/>
                  </a:lnTo>
                  <a:cubicBezTo>
                    <a:pt x="90424" y="1261491"/>
                    <a:pt x="0" y="1171194"/>
                    <a:pt x="0" y="1059688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1A4FA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98250" y="4461242"/>
            <a:ext cx="15910560" cy="914400"/>
            <a:chOff x="0" y="0"/>
            <a:chExt cx="21214080" cy="1219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214080" cy="1219200"/>
            </a:xfrm>
            <a:custGeom>
              <a:avLst/>
              <a:gdLst/>
              <a:ahLst/>
              <a:cxnLst/>
              <a:rect l="l" t="t" r="r" b="b"/>
              <a:pathLst>
                <a:path w="21214080" h="1219200">
                  <a:moveTo>
                    <a:pt x="0" y="0"/>
                  </a:moveTo>
                  <a:lnTo>
                    <a:pt x="21214080" y="0"/>
                  </a:lnTo>
                  <a:lnTo>
                    <a:pt x="21214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039" b="-28903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212140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 b="1" dirty="0">
                  <a:solidFill>
                    <a:srgbClr val="1A4FA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Depth is what makes deep learning powerful — residual connections are what made deeper networks trainable.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08052" y="6610711"/>
            <a:ext cx="8363094" cy="2851388"/>
            <a:chOff x="0" y="0"/>
            <a:chExt cx="10406609" cy="354812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406697" cy="3548211"/>
            </a:xfrm>
            <a:custGeom>
              <a:avLst/>
              <a:gdLst/>
              <a:ahLst/>
              <a:cxnLst/>
              <a:rect l="l" t="t" r="r" b="b"/>
              <a:pathLst>
                <a:path w="10406697" h="3548211">
                  <a:moveTo>
                    <a:pt x="0" y="334039"/>
                  </a:moveTo>
                  <a:cubicBezTo>
                    <a:pt x="0" y="149444"/>
                    <a:pt x="41703" y="0"/>
                    <a:pt x="93214" y="0"/>
                  </a:cubicBezTo>
                  <a:lnTo>
                    <a:pt x="10313436" y="0"/>
                  </a:lnTo>
                  <a:cubicBezTo>
                    <a:pt x="10364888" y="0"/>
                    <a:pt x="10406697" y="149444"/>
                    <a:pt x="10406697" y="334039"/>
                  </a:cubicBezTo>
                  <a:lnTo>
                    <a:pt x="10406697" y="3214234"/>
                  </a:lnTo>
                  <a:cubicBezTo>
                    <a:pt x="10406697" y="3398613"/>
                    <a:pt x="10364949" y="3548211"/>
                    <a:pt x="10313436" y="3548211"/>
                  </a:cubicBezTo>
                  <a:lnTo>
                    <a:pt x="93214" y="3548211"/>
                  </a:lnTo>
                  <a:cubicBezTo>
                    <a:pt x="41703" y="3548057"/>
                    <a:pt x="0" y="3398613"/>
                    <a:pt x="0" y="3214234"/>
                  </a:cubicBezTo>
                  <a:close/>
                </a:path>
              </a:pathLst>
            </a:custGeom>
            <a:solidFill>
              <a:srgbClr val="F3F5F9"/>
            </a:solidFill>
            <a:ln w="12700" cap="sq">
              <a:solidFill>
                <a:srgbClr val="F3F5F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2511" y="6746422"/>
            <a:ext cx="3006531" cy="601306"/>
            <a:chOff x="0" y="0"/>
            <a:chExt cx="3657600" cy="7315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657600" cy="731520"/>
            </a:xfrm>
            <a:custGeom>
              <a:avLst/>
              <a:gdLst/>
              <a:ahLst/>
              <a:cxnLst/>
              <a:rect l="l" t="t" r="r" b="b"/>
              <a:pathLst>
                <a:path w="3657600" h="73152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36576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1A4FA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Beyond CNNs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80060" y="384048"/>
            <a:ext cx="1371600" cy="109728"/>
            <a:chOff x="0" y="0"/>
            <a:chExt cx="1828800" cy="14630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828800" cy="146304"/>
            </a:xfrm>
            <a:custGeom>
              <a:avLst/>
              <a:gdLst/>
              <a:ahLst/>
              <a:cxnLst/>
              <a:rect l="l" t="t" r="r" b="b"/>
              <a:pathLst>
                <a:path w="1828800" h="146304">
                  <a:moveTo>
                    <a:pt x="0" y="0"/>
                  </a:moveTo>
                  <a:lnTo>
                    <a:pt x="1828800" y="0"/>
                  </a:lnTo>
                  <a:lnTo>
                    <a:pt x="18288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155A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80060" y="562058"/>
            <a:ext cx="17274540" cy="754380"/>
            <a:chOff x="0" y="0"/>
            <a:chExt cx="17465040" cy="10058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7465039" cy="1005840"/>
            </a:xfrm>
            <a:custGeom>
              <a:avLst/>
              <a:gdLst/>
              <a:ahLst/>
              <a:cxnLst/>
              <a:rect l="l" t="t" r="r" b="b"/>
              <a:pathLst>
                <a:path w="17465039" h="1005840">
                  <a:moveTo>
                    <a:pt x="0" y="0"/>
                  </a:moveTo>
                  <a:lnTo>
                    <a:pt x="17465039" y="0"/>
                  </a:lnTo>
                  <a:lnTo>
                    <a:pt x="174650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414" r="-20418" b="-35741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28575"/>
              <a:ext cx="17465040" cy="10344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 dirty="0">
                  <a:solidFill>
                    <a:srgbClr val="22222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Summary: what three networks taught us about depth</a:t>
              </a:r>
            </a:p>
          </p:txBody>
        </p:sp>
      </p:grpSp>
      <p:sp>
        <p:nvSpPr>
          <p:cNvPr id="45" name="AutoShape 45"/>
          <p:cNvSpPr/>
          <p:nvPr/>
        </p:nvSpPr>
        <p:spPr>
          <a:xfrm rot="3780">
            <a:off x="470525" y="1394270"/>
            <a:ext cx="17369800" cy="0"/>
          </a:xfrm>
          <a:prstGeom prst="line">
            <a:avLst/>
          </a:prstGeom>
          <a:ln w="9525" cap="rnd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Freeform 46"/>
          <p:cNvSpPr/>
          <p:nvPr/>
        </p:nvSpPr>
        <p:spPr>
          <a:xfrm>
            <a:off x="9429297" y="5534386"/>
            <a:ext cx="7669988" cy="3960566"/>
          </a:xfrm>
          <a:custGeom>
            <a:avLst/>
            <a:gdLst/>
            <a:ahLst/>
            <a:cxnLst/>
            <a:rect l="l" t="t" r="r" b="b"/>
            <a:pathLst>
              <a:path w="7669988" h="3960566">
                <a:moveTo>
                  <a:pt x="0" y="0"/>
                </a:moveTo>
                <a:lnTo>
                  <a:pt x="7669988" y="0"/>
                </a:lnTo>
                <a:lnTo>
                  <a:pt x="7669988" y="3960565"/>
                </a:lnTo>
                <a:lnTo>
                  <a:pt x="0" y="39605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03" b="-2091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7" name="TextBox 47"/>
          <p:cNvSpPr txBox="1"/>
          <p:nvPr/>
        </p:nvSpPr>
        <p:spPr>
          <a:xfrm>
            <a:off x="1188725" y="3077969"/>
            <a:ext cx="475488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GPUs, 1.2M images, ReLU, dropout 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→ 8 layers, 16.4% error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771008" y="3053959"/>
            <a:ext cx="475488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Only 3×3 filters: three 3×3 = one 7×7, fewer weights, more non-linearity</a:t>
            </a:r>
          </a:p>
          <a:p>
            <a:pPr algn="l">
              <a:lnSpc>
                <a:spcPts val="2279"/>
              </a:lnSpc>
            </a:pPr>
            <a:r>
              <a:rPr lang="en-US" sz="1899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→ 19 layers, 7.3%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344405" y="3077969"/>
            <a:ext cx="475488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Skip connection: learn F(x) = H(x) − x, identity is easy to learn </a:t>
            </a:r>
          </a:p>
          <a:p>
            <a:pPr algn="l">
              <a:lnSpc>
                <a:spcPts val="2279"/>
              </a:lnSpc>
            </a:pPr>
            <a:r>
              <a:rPr lang="en-US" sz="1899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→ 152 layers, 3.6%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65860" y="7404878"/>
            <a:ext cx="7968867" cy="1581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2479" lvl="1" indent="-251239" algn="l">
              <a:lnSpc>
                <a:spcPts val="2498"/>
              </a:lnSpc>
              <a:buFont typeface="Arial"/>
              <a:buChar char="•"/>
            </a:pPr>
            <a:r>
              <a:rPr lang="en-US" sz="2082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Transformers (2017) and Vision Transformers (2020) keep the </a:t>
            </a:r>
            <a:r>
              <a:rPr lang="en-US" sz="2082" b="1">
                <a:solidFill>
                  <a:srgbClr val="E8604C"/>
                </a:solidFill>
                <a:latin typeface="Arial Bold"/>
                <a:ea typeface="Arial Bold"/>
                <a:cs typeface="Arial Bold"/>
                <a:sym typeface="Arial Bold"/>
              </a:rPr>
              <a:t>residual path</a:t>
            </a:r>
            <a:r>
              <a:rPr lang="en-US" sz="2082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for exactly the same reason: it makes deep stacks trainable.</a:t>
            </a:r>
          </a:p>
          <a:p>
            <a:pPr marL="502479" lvl="1" indent="-251239" algn="l">
              <a:lnSpc>
                <a:spcPts val="2498"/>
              </a:lnSpc>
              <a:buFont typeface="Arial"/>
              <a:buChar char="•"/>
            </a:pPr>
            <a:r>
              <a:rPr lang="en-US" sz="2082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ConvNeXt (2022): a modern CNN with residual blocks still matches Transformers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6916400" y="9627870"/>
            <a:ext cx="54864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5/5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5770486" y="5972536"/>
            <a:ext cx="444732" cy="444732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8604C"/>
              </a:solidFill>
              <a:prstDash val="lgDash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5770486" y="7292302"/>
            <a:ext cx="444732" cy="444732"/>
            <a:chOff x="0" y="0"/>
            <a:chExt cx="812800" cy="812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8604C"/>
              </a:solidFill>
              <a:prstDash val="lgDash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745255" y="9339713"/>
            <a:ext cx="1976585" cy="411982"/>
            <a:chOff x="0" y="0"/>
            <a:chExt cx="2748922" cy="572961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748922" cy="572961"/>
            </a:xfrm>
            <a:custGeom>
              <a:avLst/>
              <a:gdLst/>
              <a:ahLst/>
              <a:cxnLst/>
              <a:rect l="l" t="t" r="r" b="b"/>
              <a:pathLst>
                <a:path w="2748922" h="572961">
                  <a:moveTo>
                    <a:pt x="0" y="0"/>
                  </a:moveTo>
                  <a:lnTo>
                    <a:pt x="2748922" y="0"/>
                  </a:lnTo>
                  <a:lnTo>
                    <a:pt x="2748922" y="572961"/>
                  </a:lnTo>
                  <a:lnTo>
                    <a:pt x="0" y="5729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7676" r="-210463" b="-23279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2748922" cy="5920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i="1">
                  <a:solidFill>
                    <a:srgbClr val="6B728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Dosovitskiy et al., 2021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536748" y="9751695"/>
            <a:ext cx="6751252" cy="691652"/>
            <a:chOff x="0" y="0"/>
            <a:chExt cx="9389257" cy="96191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389257" cy="961910"/>
            </a:xfrm>
            <a:custGeom>
              <a:avLst/>
              <a:gdLst/>
              <a:ahLst/>
              <a:cxnLst/>
              <a:rect l="l" t="t" r="r" b="b"/>
              <a:pathLst>
                <a:path w="9389257" h="961910">
                  <a:moveTo>
                    <a:pt x="0" y="0"/>
                  </a:moveTo>
                  <a:lnTo>
                    <a:pt x="9389257" y="0"/>
                  </a:lnTo>
                  <a:lnTo>
                    <a:pt x="9389257" y="961910"/>
                  </a:lnTo>
                  <a:lnTo>
                    <a:pt x="0" y="9619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528" r="9104" b="-9822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9389257" cy="980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i="1">
                  <a:solidFill>
                    <a:srgbClr val="6B728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Figures adapted from Stanford CS231n (Lectures 5–6) and the original papers.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1050</Words>
  <Application>Microsoft Office PowerPoint</Application>
  <PresentationFormat>사용자 지정</PresentationFormat>
  <Paragraphs>120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Arial Bold</vt:lpstr>
      <vt:lpstr>Calibri</vt:lpstr>
      <vt:lpstr>Arial</vt:lpstr>
      <vt:lpstr>Arial Italics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DGIST_Interview_GoingDeeper_v5_JunhyeongLee.pptx</dc:title>
  <dc:creator>이준형</dc:creator>
  <cp:lastModifiedBy>이준형</cp:lastModifiedBy>
  <cp:revision>2</cp:revision>
  <dcterms:created xsi:type="dcterms:W3CDTF">2006-08-16T00:00:00Z</dcterms:created>
  <dcterms:modified xsi:type="dcterms:W3CDTF">2026-10-13T21:49:33Z</dcterms:modified>
  <dc:identifier>DAHX4C3Y9cI</dc:identifier>
</cp:coreProperties>
</file>